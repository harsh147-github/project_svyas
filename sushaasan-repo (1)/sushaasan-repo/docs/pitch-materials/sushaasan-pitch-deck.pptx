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F97316"/>
              </a:solidFill>
              <a:effectLst/>
            </c:spPr>
          </c:dPt>
          <c:dPt>
            <c:idx val="1"/>
            <c:bubble3D val="0"/>
            <c:spPr>
              <a:solidFill>
                <a:srgbClr val="1E3A8A"/>
              </a:solidFill>
              <a:effectLst/>
            </c:spPr>
          </c:dPt>
          <c:dPt>
            <c:idx val="2"/>
            <c:bubble3D val="0"/>
            <c:spPr>
              <a:solidFill>
                <a:srgbClr val="10B981"/>
              </a:solidFill>
              <a:effectLst/>
            </c:spPr>
          </c:dPt>
          <c:dPt>
            <c:idx val="3"/>
            <c:bubble3D val="0"/>
            <c:spPr>
              <a:solidFill>
                <a:srgbClr val="3B82F6"/>
              </a:solidFill>
              <a:effectLst/>
            </c:spPr>
          </c:dPt>
          <c:dPt>
            <c:idx val="4"/>
            <c:bubble3D val="0"/>
            <c:spPr>
              <a:solidFill>
                <a:srgbClr val="94A3B8"/>
              </a:solidFill>
              <a:effectLst/>
            </c:spPr>
          </c:dPt>
          <c:dLbls>
            <c:dLbl>
              <c:idx val="0"/>
              <c:numFmt formatCode="General" sourceLinked="0"/>
              <c:spPr/>
              <c:txPr>
                <a:bodyPr/>
                <a:lstStyle/>
                <a:p>
                  <a:pPr>
                    <a:defRPr sz="9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9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9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900" b="0" i="0" u="none" strike="noStrike">
                      <a:solidFill>
                        <a:srgbClr val="FFFFFF"/>
                      </a:solidFill>
                      <a:latin typeface="Arial"/>
                    </a:defRPr>
                  </a:pPr>
                </a:p>
              </c:txPr>
              <c:showLegendKey val="0"/>
              <c:showVal val="0"/>
              <c:showCatName val="0"/>
              <c:showSerName val="0"/>
              <c:showPercent val="0"/>
              <c:showBubbleSize val="0"/>
            </c:dLbl>
            <c:dLbl>
              <c:idx val="4"/>
              <c:numFmt formatCode="General" sourceLinked="0"/>
              <c:spPr/>
              <c:txPr>
                <a:bodyPr/>
                <a:lstStyle/>
                <a:p>
                  <a:pPr>
                    <a:defRPr sz="9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Product Dev (40%)</c:v>
                </c:pt>
                <c:pt idx="1">
                  <c:v>Team (25%)</c:v>
                </c:pt>
                <c:pt idx="2">
                  <c:v>Growth (20%)</c:v>
                </c:pt>
                <c:pt idx="3">
                  <c:v>Infra (10%)</c:v>
                </c:pt>
                <c:pt idx="4">
                  <c:v>Other (5%)</c:v>
                </c:pt>
              </c:strCache>
            </c:strRef>
          </c:cat>
          <c:val>
            <c:numRef>
              <c:f>Sheet1!$B$2:$B$6</c:f>
              <c:numCache>
                <c:ptCount val="5"/>
                <c:pt idx="0">
                  <c:v>40</c:v>
                </c:pt>
                <c:pt idx="1">
                  <c:v>25</c:v>
                </c:pt>
                <c:pt idx="2">
                  <c:v>20</c:v>
                </c:pt>
                <c:pt idx="3">
                  <c:v>10</c:v>
                </c:pt>
                <c:pt idx="4">
                  <c:v>5</c:v>
                </c:pt>
              </c:numCache>
            </c:numRef>
          </c:val>
        </c:ser>
        <c:firstSliceAng val="0"/>
      </c:pieChart>
      <c:spPr>
        <a:noFill/>
        <a:ln>
          <a:noFill/>
        </a:ln>
        <a:effectLst/>
      </c:spPr>
    </c:plotArea>
    <c:legend>
      <c:legendPos val="r"/>
      <c:overlay val="0"/>
      <c:txPr>
        <a:bodyPr/>
        <a:lstStyle/>
        <a:p>
          <a:pPr>
            <a:defRPr sz="800">
              <a:solidFill>
                <a:srgbClr val="E2E8F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Harsh Sonavane, founder of Sushaasan. We're building AI-powered collective intelligence infrastructure for Indian democracy. Think of it as the platform that makes every Indian's voice matter in decisions affecting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700 million Indians discuss civic issues online every single day. But when it comes to actual decisions affecting their lives, most people stay silent. On the government side, CPGRAMS reaches just 0.19% of Indians. The result? Decisions lack legitimacy. The loud minority dominates. Citizens feel unheard. Leaders feel uninformed.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Sushaasan works in three steps: First, citizens discuss issues naturally. Second, our AI synthesizes — each problem spawns its own neural network. Third, leaders get structured collective intelligence. Not Twitter outrage. Clear priorities backed by what thousands of people are actually saying.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systems like CPGRAMS require forms, identity verification, and manual processing. They reach 0.19% of Indians. Sushaasan is different. Natural conversation, anonymous if you want, AI synthesizes at scale, real-time insights. We're building what participatory democracy looks like when 700 million people are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is built for India from day one. We support 22 Indian languages, anonymous posting. Each problem gets its own neural network. We're architected to integrate with India's sovereign AI stack — Sarvam AI, Bhashini. Full data sovereignty.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is perfect. 700 million Indians are online. IndiaAI Mission has over ₹10,000 crore budget. NextGen CPGRAMS modernization happening right now. But CPGRAMS reaches 0.19% of people. The market is massive: ₹100-500 crore addressable from government contracts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Launch at one college. Prove AI synthesis works. Phase 2: Scale to 10 campuses. Phase 3: Students bring Sushaasan everywhere — societies, offices. Phase 4: Government notices. Municipal corporations want ward-level synthesis. We don't need government to start. We build from the bottom-up.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 direct competition. MyGate tracks complaints but doesn't synthesize. CPGRAMS logs grievances without AI. Taiwan's Polis reached only 4,500 users. We're the only player building large-scale continuous collective intelligence for India. By the time competitors notice, we'll have 100,000 users and network effects protecting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pre-pilot but strategically positioned. DPIIT recognition. 13 comprehensive research documents. Conversations with Raghav Chadha MP. Applying to IIT Kanpur and COEP incubation. Technical architecture designed. College launch planned in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 is free — pure adoption. Year 2, we introduce freemium. Year 3+, government contracts become the big driver. Unit economics: 80-85% gross margins, near-zero marginal cost per user. This is software infrastructure, not a service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Harsh Sonavane, founder. I'm a student — I understand our first users deeply. I'm on campus, which means I can iterate daily. We're building the team and securing advisors through IIT Kanpur incubation and potentially Raghav Chadha MP for political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₹50 lakh to ₹2 crore in pre-seed funding for 18-month runway. 40% product development, 25% hiring, 20% growth, rest for infrastructure. In 18 months: MVP, 1000 students, 10 colleges, 100K users. We're not building an app. We're building infrastructure for how democracy should work in the digital age. Let's make democracy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D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Text 1"/>
          <p:cNvSpPr/>
          <p:nvPr/>
        </p:nvSpPr>
        <p:spPr>
          <a:xfrm>
            <a:off x="731520" y="914400"/>
            <a:ext cx="7680960" cy="1097280"/>
          </a:xfrm>
          <a:prstGeom prst="rect">
            <a:avLst/>
          </a:prstGeom>
          <a:noFill/>
          <a:ln/>
        </p:spPr>
        <p:txBody>
          <a:bodyPr wrap="square" lIns="0" tIns="0" rIns="0" bIns="0" rtlCol="0" anchor="ctr"/>
          <a:lstStyle/>
          <a:p>
            <a:pPr algn="l" indent="0" marL="0">
              <a:buNone/>
            </a:pPr>
            <a:r>
              <a:rPr lang="en-US" sz="5400" b="1" spc="800" kern="0" dirty="0">
                <a:solidFill>
                  <a:srgbClr val="FFFFFF"/>
                </a:solidFill>
                <a:latin typeface="Trebuchet MS" pitchFamily="34" charset="0"/>
                <a:ea typeface="Trebuchet MS" pitchFamily="34" charset="-122"/>
                <a:cs typeface="Trebuchet MS" pitchFamily="34" charset="-120"/>
              </a:rPr>
              <a:t>SUSHAASAN</a:t>
            </a:r>
            <a:endParaRPr lang="en-US" sz="5400" dirty="0"/>
          </a:p>
        </p:txBody>
      </p:sp>
      <p:sp>
        <p:nvSpPr>
          <p:cNvPr id="4" name="Text 2"/>
          <p:cNvSpPr/>
          <p:nvPr/>
        </p:nvSpPr>
        <p:spPr>
          <a:xfrm>
            <a:off x="731520" y="2011680"/>
            <a:ext cx="7680960" cy="914400"/>
          </a:xfrm>
          <a:prstGeom prst="rect">
            <a:avLst/>
          </a:prstGeom>
          <a:noFill/>
          <a:ln/>
        </p:spPr>
        <p:txBody>
          <a:bodyPr wrap="square" lIns="0" tIns="0" rIns="0" bIns="0" rtlCol="0" anchor="ctr"/>
          <a:lstStyle/>
          <a:p>
            <a:pPr algn="l" indent="0" marL="0">
              <a:lnSpc>
                <a:spcPct val="120000"/>
              </a:lnSpc>
              <a:buNone/>
            </a:pPr>
            <a:r>
              <a:rPr lang="en-US" sz="2200" dirty="0">
                <a:solidFill>
                  <a:srgbClr val="F97316"/>
                </a:solidFill>
                <a:latin typeface="Calibri" pitchFamily="34" charset="0"/>
                <a:ea typeface="Calibri" pitchFamily="34" charset="-122"/>
                <a:cs typeface="Calibri" pitchFamily="34" charset="-120"/>
              </a:rPr>
              <a:t>AI-Powered Collective Intelligence</a:t>
            </a:r>
            <a:endParaRPr lang="en-US" sz="2200" dirty="0"/>
          </a:p>
          <a:p>
            <a:pPr algn="l" indent="0" marL="0">
              <a:lnSpc>
                <a:spcPct val="120000"/>
              </a:lnSpc>
              <a:buNone/>
            </a:pPr>
            <a:r>
              <a:rPr lang="en-US" sz="2200" dirty="0">
                <a:solidFill>
                  <a:srgbClr val="F97316"/>
                </a:solidFill>
                <a:latin typeface="Calibri" pitchFamily="34" charset="0"/>
                <a:ea typeface="Calibri" pitchFamily="34" charset="-122"/>
                <a:cs typeface="Calibri" pitchFamily="34" charset="-120"/>
              </a:rPr>
              <a:t>for Indian Democracy</a:t>
            </a:r>
            <a:endParaRPr lang="en-US" sz="2200" dirty="0"/>
          </a:p>
        </p:txBody>
      </p:sp>
      <p:sp>
        <p:nvSpPr>
          <p:cNvPr id="5" name="Shape 3"/>
          <p:cNvSpPr/>
          <p:nvPr/>
        </p:nvSpPr>
        <p:spPr>
          <a:xfrm>
            <a:off x="731520" y="3108960"/>
            <a:ext cx="2286000" cy="36576"/>
          </a:xfrm>
          <a:prstGeom prst="rect">
            <a:avLst/>
          </a:prstGeom>
          <a:solidFill>
            <a:srgbClr val="F97316"/>
          </a:solidFill>
          <a:ln/>
        </p:spPr>
      </p:sp>
      <p:sp>
        <p:nvSpPr>
          <p:cNvPr id="6" name="Text 4"/>
          <p:cNvSpPr/>
          <p:nvPr/>
        </p:nvSpPr>
        <p:spPr>
          <a:xfrm>
            <a:off x="731520" y="3383280"/>
            <a:ext cx="5486400" cy="13716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Harsh Sonavane</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Founder</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100" dirty="0">
                <a:solidFill>
                  <a:srgbClr val="94A3B8"/>
                </a:solidFill>
                <a:latin typeface="Calibri" pitchFamily="34" charset="0"/>
                <a:ea typeface="Calibri" pitchFamily="34" charset="-122"/>
                <a:cs typeface="Calibri" pitchFamily="34" charset="-120"/>
              </a:rPr>
              <a:t>contact@sushaasan.in  |  sushaasan.in</a:t>
            </a:r>
            <a:endParaRPr lang="en-US" sz="1600" dirty="0"/>
          </a:p>
          <a:p>
            <a:pPr indent="0" marL="0">
              <a:buNone/>
            </a:pPr>
            <a:r>
              <a:rPr lang="en-US" sz="1100" dirty="0">
                <a:solidFill>
                  <a:srgbClr val="94A3B8"/>
                </a:solidFill>
                <a:latin typeface="Calibri" pitchFamily="34" charset="0"/>
                <a:ea typeface="Calibri" pitchFamily="34" charset="-122"/>
                <a:cs typeface="Calibri" pitchFamily="34" charset="-120"/>
              </a:rPr>
              <a:t>Startup India BHASKAR ID: IN-0326-9427IW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Trebuchet MS" pitchFamily="34" charset="0"/>
                <a:ea typeface="Trebuchet MS" pitchFamily="34" charset="-122"/>
                <a:cs typeface="Trebuchet MS" pitchFamily="34" charset="-120"/>
              </a:rPr>
              <a:t>Democracy Has a Signal Problem</a:t>
            </a:r>
            <a:endParaRPr lang="en-US" sz="3200" dirty="0"/>
          </a:p>
        </p:txBody>
      </p:sp>
      <p:sp>
        <p:nvSpPr>
          <p:cNvPr id="3" name="Shape 1"/>
          <p:cNvSpPr/>
          <p:nvPr/>
        </p:nvSpPr>
        <p:spPr>
          <a:xfrm>
            <a:off x="731520" y="1188720"/>
            <a:ext cx="2468880" cy="35661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1645920" y="1417320"/>
            <a:ext cx="640080" cy="640080"/>
          </a:xfrm>
          <a:prstGeom prst="ellipse">
            <a:avLst/>
          </a:prstGeom>
          <a:solidFill>
            <a:srgbClr val="1E3A8A"/>
          </a:solidFill>
          <a:ln/>
        </p:spPr>
      </p:sp>
      <p:pic>
        <p:nvPicPr>
          <p:cNvPr id="5" name="Image 0" descr="preencoded.png">    </p:cNvPr>
          <p:cNvPicPr>
            <a:picLocks noChangeAspect="1"/>
          </p:cNvPicPr>
          <p:nvPr/>
        </p:nvPicPr>
        <p:blipFill>
          <a:blip r:embed="rId1"/>
          <a:stretch>
            <a:fillRect/>
          </a:stretch>
        </p:blipFill>
        <p:spPr>
          <a:xfrm>
            <a:off x="1783080" y="1554480"/>
            <a:ext cx="365760" cy="365760"/>
          </a:xfrm>
          <a:prstGeom prst="rect">
            <a:avLst/>
          </a:prstGeom>
        </p:spPr>
      </p:pic>
      <p:sp>
        <p:nvSpPr>
          <p:cNvPr id="6" name="Text 3"/>
          <p:cNvSpPr/>
          <p:nvPr/>
        </p:nvSpPr>
        <p:spPr>
          <a:xfrm>
            <a:off x="868680" y="2194560"/>
            <a:ext cx="21945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Silent Majority</a:t>
            </a:r>
            <a:endParaRPr lang="en-US" sz="1400" dirty="0"/>
          </a:p>
        </p:txBody>
      </p:sp>
      <p:sp>
        <p:nvSpPr>
          <p:cNvPr id="7" name="Text 4"/>
          <p:cNvSpPr/>
          <p:nvPr/>
        </p:nvSpPr>
        <p:spPr>
          <a:xfrm>
            <a:off x="868680" y="2560320"/>
            <a:ext cx="2194560" cy="502920"/>
          </a:xfrm>
          <a:prstGeom prst="rect">
            <a:avLst/>
          </a:prstGeom>
          <a:noFill/>
          <a:ln/>
        </p:spPr>
        <p:txBody>
          <a:bodyPr wrap="square" lIns="0" tIns="0" rIns="0" bIns="0" rtlCol="0" anchor="ctr"/>
          <a:lstStyle/>
          <a:p>
            <a:pPr algn="ctr" indent="0" marL="0">
              <a:buNone/>
            </a:pPr>
            <a:r>
              <a:rPr lang="en-US" sz="3600" b="1" dirty="0">
                <a:solidFill>
                  <a:srgbClr val="F97316"/>
                </a:solidFill>
                <a:latin typeface="Trebuchet MS" pitchFamily="34" charset="0"/>
                <a:ea typeface="Trebuchet MS" pitchFamily="34" charset="-122"/>
                <a:cs typeface="Trebuchet MS" pitchFamily="34" charset="-120"/>
              </a:rPr>
              <a:t>700M</a:t>
            </a:r>
            <a:endParaRPr lang="en-US" sz="3600" dirty="0"/>
          </a:p>
        </p:txBody>
      </p:sp>
      <p:sp>
        <p:nvSpPr>
          <p:cNvPr id="8" name="Text 5"/>
          <p:cNvSpPr/>
          <p:nvPr/>
        </p:nvSpPr>
        <p:spPr>
          <a:xfrm>
            <a:off x="868680" y="3017520"/>
            <a:ext cx="2194560"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Indians discuss civic issues online daily</a:t>
            </a:r>
            <a:endParaRPr lang="en-US" sz="1000" dirty="0"/>
          </a:p>
        </p:txBody>
      </p:sp>
      <p:sp>
        <p:nvSpPr>
          <p:cNvPr id="9" name="Text 6"/>
          <p:cNvSpPr/>
          <p:nvPr/>
        </p:nvSpPr>
        <p:spPr>
          <a:xfrm>
            <a:off x="914400" y="3474720"/>
            <a:ext cx="2103120" cy="1097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Most never voice opinions on actual decisions</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Too much effort, fear judgment, feel unheard</a:t>
            </a:r>
            <a:endParaRPr lang="en-US" sz="1100" dirty="0"/>
          </a:p>
        </p:txBody>
      </p:sp>
      <p:sp>
        <p:nvSpPr>
          <p:cNvPr id="10" name="Shape 7"/>
          <p:cNvSpPr/>
          <p:nvPr/>
        </p:nvSpPr>
        <p:spPr>
          <a:xfrm>
            <a:off x="3429000" y="1188720"/>
            <a:ext cx="2468880" cy="35661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8"/>
          <p:cNvSpPr/>
          <p:nvPr/>
        </p:nvSpPr>
        <p:spPr>
          <a:xfrm>
            <a:off x="4343400" y="1417320"/>
            <a:ext cx="640080" cy="640080"/>
          </a:xfrm>
          <a:prstGeom prst="ellipse">
            <a:avLst/>
          </a:prstGeom>
          <a:solidFill>
            <a:srgbClr val="1E3A8A"/>
          </a:solidFill>
          <a:ln/>
        </p:spPr>
      </p:sp>
      <p:pic>
        <p:nvPicPr>
          <p:cNvPr id="12" name="Image 1" descr="preencoded.png">    </p:cNvPr>
          <p:cNvPicPr>
            <a:picLocks noChangeAspect="1"/>
          </p:cNvPicPr>
          <p:nvPr/>
        </p:nvPicPr>
        <p:blipFill>
          <a:blip r:embed="rId2"/>
          <a:stretch>
            <a:fillRect/>
          </a:stretch>
        </p:blipFill>
        <p:spPr>
          <a:xfrm>
            <a:off x="4480560" y="1554480"/>
            <a:ext cx="365760" cy="365760"/>
          </a:xfrm>
          <a:prstGeom prst="rect">
            <a:avLst/>
          </a:prstGeom>
        </p:spPr>
      </p:pic>
      <p:sp>
        <p:nvSpPr>
          <p:cNvPr id="13" name="Text 9"/>
          <p:cNvSpPr/>
          <p:nvPr/>
        </p:nvSpPr>
        <p:spPr>
          <a:xfrm>
            <a:off x="3566160" y="2194560"/>
            <a:ext cx="21945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Leaders in Isolation</a:t>
            </a:r>
            <a:endParaRPr lang="en-US" sz="1400" dirty="0"/>
          </a:p>
        </p:txBody>
      </p:sp>
      <p:sp>
        <p:nvSpPr>
          <p:cNvPr id="14" name="Text 10"/>
          <p:cNvSpPr/>
          <p:nvPr/>
        </p:nvSpPr>
        <p:spPr>
          <a:xfrm>
            <a:off x="3566160" y="2560320"/>
            <a:ext cx="2194560" cy="502920"/>
          </a:xfrm>
          <a:prstGeom prst="rect">
            <a:avLst/>
          </a:prstGeom>
          <a:noFill/>
          <a:ln/>
        </p:spPr>
        <p:txBody>
          <a:bodyPr wrap="square" lIns="0" tIns="0" rIns="0" bIns="0" rtlCol="0" anchor="ctr"/>
          <a:lstStyle/>
          <a:p>
            <a:pPr algn="ctr" indent="0" marL="0">
              <a:buNone/>
            </a:pPr>
            <a:r>
              <a:rPr lang="en-US" sz="3600" b="1" dirty="0">
                <a:solidFill>
                  <a:srgbClr val="F97316"/>
                </a:solidFill>
                <a:latin typeface="Trebuchet MS" pitchFamily="34" charset="0"/>
                <a:ea typeface="Trebuchet MS" pitchFamily="34" charset="-122"/>
                <a:cs typeface="Trebuchet MS" pitchFamily="34" charset="-120"/>
              </a:rPr>
              <a:t>0.19%</a:t>
            </a:r>
            <a:endParaRPr lang="en-US" sz="3600" dirty="0"/>
          </a:p>
        </p:txBody>
      </p:sp>
      <p:sp>
        <p:nvSpPr>
          <p:cNvPr id="15" name="Text 11"/>
          <p:cNvSpPr/>
          <p:nvPr/>
        </p:nvSpPr>
        <p:spPr>
          <a:xfrm>
            <a:off x="3566160" y="3017520"/>
            <a:ext cx="2194560"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of Indians reached by CPGRAMS</a:t>
            </a:r>
            <a:endParaRPr lang="en-US" sz="1000" dirty="0"/>
          </a:p>
        </p:txBody>
      </p:sp>
      <p:sp>
        <p:nvSpPr>
          <p:cNvPr id="16" name="Text 12"/>
          <p:cNvSpPr/>
          <p:nvPr/>
        </p:nvSpPr>
        <p:spPr>
          <a:xfrm>
            <a:off x="3611880" y="3474720"/>
            <a:ext cx="2103120" cy="1097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2.6M grievances from 1.4B population</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Social media = noise, not structured input</a:t>
            </a:r>
            <a:endParaRPr lang="en-US" sz="1100" dirty="0"/>
          </a:p>
        </p:txBody>
      </p:sp>
      <p:sp>
        <p:nvSpPr>
          <p:cNvPr id="17" name="Shape 13"/>
          <p:cNvSpPr/>
          <p:nvPr/>
        </p:nvSpPr>
        <p:spPr>
          <a:xfrm>
            <a:off x="6126480" y="1188720"/>
            <a:ext cx="2468880" cy="35661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4"/>
          <p:cNvSpPr/>
          <p:nvPr/>
        </p:nvSpPr>
        <p:spPr>
          <a:xfrm>
            <a:off x="7040880" y="1417320"/>
            <a:ext cx="640080" cy="640080"/>
          </a:xfrm>
          <a:prstGeom prst="ellipse">
            <a:avLst/>
          </a:prstGeom>
          <a:solidFill>
            <a:srgbClr val="1E3A8A"/>
          </a:solidFill>
          <a:ln/>
        </p:spPr>
      </p:sp>
      <p:pic>
        <p:nvPicPr>
          <p:cNvPr id="19" name="Image 2" descr="preencoded.png">    </p:cNvPr>
          <p:cNvPicPr>
            <a:picLocks noChangeAspect="1"/>
          </p:cNvPicPr>
          <p:nvPr/>
        </p:nvPicPr>
        <p:blipFill>
          <a:blip r:embed="rId3"/>
          <a:stretch>
            <a:fillRect/>
          </a:stretch>
        </p:blipFill>
        <p:spPr>
          <a:xfrm>
            <a:off x="7178040" y="1554480"/>
            <a:ext cx="365760" cy="365760"/>
          </a:xfrm>
          <a:prstGeom prst="rect">
            <a:avLst/>
          </a:prstGeom>
        </p:spPr>
      </p:pic>
      <p:sp>
        <p:nvSpPr>
          <p:cNvPr id="20" name="Text 15"/>
          <p:cNvSpPr/>
          <p:nvPr/>
        </p:nvSpPr>
        <p:spPr>
          <a:xfrm>
            <a:off x="6263640" y="2194560"/>
            <a:ext cx="21945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Democracy Doesn't Work</a:t>
            </a:r>
            <a:endParaRPr lang="en-US" sz="1400" dirty="0"/>
          </a:p>
        </p:txBody>
      </p:sp>
      <p:sp>
        <p:nvSpPr>
          <p:cNvPr id="21" name="Text 16"/>
          <p:cNvSpPr/>
          <p:nvPr/>
        </p:nvSpPr>
        <p:spPr>
          <a:xfrm>
            <a:off x="6263640" y="2560320"/>
            <a:ext cx="2194560" cy="502920"/>
          </a:xfrm>
          <a:prstGeom prst="rect">
            <a:avLst/>
          </a:prstGeom>
          <a:noFill/>
          <a:ln/>
        </p:spPr>
        <p:txBody>
          <a:bodyPr wrap="square" lIns="0" tIns="0" rIns="0" bIns="0" rtlCol="0" anchor="ctr"/>
          <a:lstStyle/>
          <a:p>
            <a:pPr algn="ctr" indent="0" marL="0">
              <a:buNone/>
            </a:pPr>
            <a:r>
              <a:rPr lang="en-US" sz="3600" b="1" dirty="0">
                <a:solidFill>
                  <a:srgbClr val="F97316"/>
                </a:solidFill>
                <a:latin typeface="Trebuchet MS" pitchFamily="34" charset="0"/>
                <a:ea typeface="Trebuchet MS" pitchFamily="34" charset="-122"/>
                <a:cs typeface="Trebuchet MS" pitchFamily="34" charset="-120"/>
              </a:rPr>
              <a:t>0</a:t>
            </a:r>
            <a:endParaRPr lang="en-US" sz="3600" dirty="0"/>
          </a:p>
        </p:txBody>
      </p:sp>
      <p:sp>
        <p:nvSpPr>
          <p:cNvPr id="22" name="Text 17"/>
          <p:cNvSpPr/>
          <p:nvPr/>
        </p:nvSpPr>
        <p:spPr>
          <a:xfrm>
            <a:off x="6263640" y="3017520"/>
            <a:ext cx="2194560"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collective intelligence infrastructure</a:t>
            </a:r>
            <a:endParaRPr lang="en-US" sz="1000" dirty="0"/>
          </a:p>
        </p:txBody>
      </p:sp>
      <p:sp>
        <p:nvSpPr>
          <p:cNvPr id="23" name="Text 18"/>
          <p:cNvSpPr/>
          <p:nvPr/>
        </p:nvSpPr>
        <p:spPr>
          <a:xfrm>
            <a:off x="6309360" y="3474720"/>
            <a:ext cx="2103120" cy="1097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Loud minority dominates the discourse</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Citizens unheard, leaders uninformed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Sushaasan: Collective Intelligence at Scale</a:t>
            </a:r>
            <a:endParaRPr lang="en-US" sz="2400" dirty="0"/>
          </a:p>
        </p:txBody>
      </p:sp>
      <p:sp>
        <p:nvSpPr>
          <p:cNvPr id="3" name="Shape 1"/>
          <p:cNvSpPr/>
          <p:nvPr/>
        </p:nvSpPr>
        <p:spPr>
          <a:xfrm>
            <a:off x="731520" y="1188720"/>
            <a:ext cx="2286000" cy="3017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731520" y="1188720"/>
            <a:ext cx="2286000" cy="54864"/>
          </a:xfrm>
          <a:prstGeom prst="rect">
            <a:avLst/>
          </a:prstGeom>
          <a:solidFill>
            <a:srgbClr val="F97316"/>
          </a:solidFill>
          <a:ln/>
        </p:spPr>
      </p:sp>
      <p:sp>
        <p:nvSpPr>
          <p:cNvPr id="5" name="Shape 3"/>
          <p:cNvSpPr/>
          <p:nvPr/>
        </p:nvSpPr>
        <p:spPr>
          <a:xfrm>
            <a:off x="1600200" y="1463040"/>
            <a:ext cx="548640" cy="548640"/>
          </a:xfrm>
          <a:prstGeom prst="ellipse">
            <a:avLst/>
          </a:prstGeom>
          <a:solidFill>
            <a:srgbClr val="FFF7ED"/>
          </a:solidFill>
          <a:ln/>
        </p:spPr>
      </p:sp>
      <p:pic>
        <p:nvPicPr>
          <p:cNvPr id="6" name="Image 0" descr="preencoded.png">    </p:cNvPr>
          <p:cNvPicPr>
            <a:picLocks noChangeAspect="1"/>
          </p:cNvPicPr>
          <p:nvPr/>
        </p:nvPicPr>
        <p:blipFill>
          <a:blip r:embed="rId1"/>
          <a:stretch>
            <a:fillRect/>
          </a:stretch>
        </p:blipFill>
        <p:spPr>
          <a:xfrm>
            <a:off x="1719072" y="1581912"/>
            <a:ext cx="310896" cy="310896"/>
          </a:xfrm>
          <a:prstGeom prst="rect">
            <a:avLst/>
          </a:prstGeom>
        </p:spPr>
      </p:pic>
      <p:sp>
        <p:nvSpPr>
          <p:cNvPr id="7" name="Text 4"/>
          <p:cNvSpPr/>
          <p:nvPr/>
        </p:nvSpPr>
        <p:spPr>
          <a:xfrm>
            <a:off x="868680" y="2148840"/>
            <a:ext cx="2011680" cy="274320"/>
          </a:xfrm>
          <a:prstGeom prst="rect">
            <a:avLst/>
          </a:prstGeom>
          <a:noFill/>
          <a:ln/>
        </p:spPr>
        <p:txBody>
          <a:bodyPr wrap="square" lIns="0" tIns="0" rIns="0" bIns="0" rtlCol="0" anchor="ctr"/>
          <a:lstStyle/>
          <a:p>
            <a:pPr algn="ctr" indent="0" marL="0">
              <a:buNone/>
            </a:pPr>
            <a:r>
              <a:rPr lang="en-US" sz="1000" b="1" spc="200" kern="0" dirty="0">
                <a:solidFill>
                  <a:srgbClr val="F97316"/>
                </a:solidFill>
                <a:latin typeface="Calibri" pitchFamily="34" charset="0"/>
                <a:ea typeface="Calibri" pitchFamily="34" charset="-122"/>
                <a:cs typeface="Calibri" pitchFamily="34" charset="-120"/>
              </a:rPr>
              <a:t>CAPTURE</a:t>
            </a:r>
            <a:endParaRPr lang="en-US" sz="1000" dirty="0"/>
          </a:p>
        </p:txBody>
      </p:sp>
      <p:sp>
        <p:nvSpPr>
          <p:cNvPr id="8" name="Text 5"/>
          <p:cNvSpPr/>
          <p:nvPr/>
        </p:nvSpPr>
        <p:spPr>
          <a:xfrm>
            <a:off x="868680" y="2423160"/>
            <a:ext cx="201168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Natural Expression</a:t>
            </a:r>
            <a:endParaRPr lang="en-US" sz="1600" dirty="0"/>
          </a:p>
        </p:txBody>
      </p:sp>
      <p:sp>
        <p:nvSpPr>
          <p:cNvPr id="9" name="Text 6"/>
          <p:cNvSpPr/>
          <p:nvPr/>
        </p:nvSpPr>
        <p:spPr>
          <a:xfrm>
            <a:off x="914400" y="2880360"/>
            <a:ext cx="192024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475569"/>
                </a:solidFill>
                <a:latin typeface="Calibri" pitchFamily="34" charset="0"/>
                <a:ea typeface="Calibri" pitchFamily="34" charset="-122"/>
                <a:cs typeface="Calibri" pitchFamily="34" charset="-120"/>
              </a:rPr>
              <a:t>Citizens discuss naturally — WhatsApp, in-app, anonymous. 22 Indian languages. No forms, no friction.</a:t>
            </a:r>
            <a:endParaRPr lang="en-US" sz="1200" dirty="0"/>
          </a:p>
        </p:txBody>
      </p:sp>
      <p:pic>
        <p:nvPicPr>
          <p:cNvPr id="10" name="Image 1" descr="preencoded.png">    </p:cNvPr>
          <p:cNvPicPr>
            <a:picLocks noChangeAspect="1"/>
          </p:cNvPicPr>
          <p:nvPr/>
        </p:nvPicPr>
        <p:blipFill>
          <a:blip r:embed="rId2"/>
          <a:stretch>
            <a:fillRect/>
          </a:stretch>
        </p:blipFill>
        <p:spPr>
          <a:xfrm>
            <a:off x="3090672" y="2560320"/>
            <a:ext cx="274320" cy="274320"/>
          </a:xfrm>
          <a:prstGeom prst="rect">
            <a:avLst/>
          </a:prstGeom>
        </p:spPr>
      </p:pic>
      <p:sp>
        <p:nvSpPr>
          <p:cNvPr id="11" name="Shape 7"/>
          <p:cNvSpPr/>
          <p:nvPr/>
        </p:nvSpPr>
        <p:spPr>
          <a:xfrm>
            <a:off x="3794760" y="1188720"/>
            <a:ext cx="2286000" cy="3017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8"/>
          <p:cNvSpPr/>
          <p:nvPr/>
        </p:nvSpPr>
        <p:spPr>
          <a:xfrm>
            <a:off x="3794760" y="1188720"/>
            <a:ext cx="2286000" cy="54864"/>
          </a:xfrm>
          <a:prstGeom prst="rect">
            <a:avLst/>
          </a:prstGeom>
          <a:solidFill>
            <a:srgbClr val="F97316"/>
          </a:solidFill>
          <a:ln/>
        </p:spPr>
      </p:sp>
      <p:sp>
        <p:nvSpPr>
          <p:cNvPr id="13" name="Shape 9"/>
          <p:cNvSpPr/>
          <p:nvPr/>
        </p:nvSpPr>
        <p:spPr>
          <a:xfrm>
            <a:off x="4663440" y="1463040"/>
            <a:ext cx="548640" cy="548640"/>
          </a:xfrm>
          <a:prstGeom prst="ellipse">
            <a:avLst/>
          </a:prstGeom>
          <a:solidFill>
            <a:srgbClr val="FFF7ED"/>
          </a:solidFill>
          <a:ln/>
        </p:spPr>
      </p:sp>
      <p:pic>
        <p:nvPicPr>
          <p:cNvPr id="14" name="Image 2" descr="preencoded.png">    </p:cNvPr>
          <p:cNvPicPr>
            <a:picLocks noChangeAspect="1"/>
          </p:cNvPicPr>
          <p:nvPr/>
        </p:nvPicPr>
        <p:blipFill>
          <a:blip r:embed="rId3"/>
          <a:stretch>
            <a:fillRect/>
          </a:stretch>
        </p:blipFill>
        <p:spPr>
          <a:xfrm>
            <a:off x="4782312" y="1581912"/>
            <a:ext cx="310896" cy="310896"/>
          </a:xfrm>
          <a:prstGeom prst="rect">
            <a:avLst/>
          </a:prstGeom>
        </p:spPr>
      </p:pic>
      <p:sp>
        <p:nvSpPr>
          <p:cNvPr id="15" name="Text 10"/>
          <p:cNvSpPr/>
          <p:nvPr/>
        </p:nvSpPr>
        <p:spPr>
          <a:xfrm>
            <a:off x="3931920" y="2148840"/>
            <a:ext cx="2011680" cy="274320"/>
          </a:xfrm>
          <a:prstGeom prst="rect">
            <a:avLst/>
          </a:prstGeom>
          <a:noFill/>
          <a:ln/>
        </p:spPr>
        <p:txBody>
          <a:bodyPr wrap="square" lIns="0" tIns="0" rIns="0" bIns="0" rtlCol="0" anchor="ctr"/>
          <a:lstStyle/>
          <a:p>
            <a:pPr algn="ctr" indent="0" marL="0">
              <a:buNone/>
            </a:pPr>
            <a:r>
              <a:rPr lang="en-US" sz="1000" b="1" spc="200" kern="0" dirty="0">
                <a:solidFill>
                  <a:srgbClr val="F97316"/>
                </a:solidFill>
                <a:latin typeface="Calibri" pitchFamily="34" charset="0"/>
                <a:ea typeface="Calibri" pitchFamily="34" charset="-122"/>
                <a:cs typeface="Calibri" pitchFamily="34" charset="-120"/>
              </a:rPr>
              <a:t>PROCESS</a:t>
            </a:r>
            <a:endParaRPr lang="en-US" sz="1000" dirty="0"/>
          </a:p>
        </p:txBody>
      </p:sp>
      <p:sp>
        <p:nvSpPr>
          <p:cNvPr id="16" name="Text 11"/>
          <p:cNvSpPr/>
          <p:nvPr/>
        </p:nvSpPr>
        <p:spPr>
          <a:xfrm>
            <a:off x="3931920" y="2423160"/>
            <a:ext cx="201168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AI Synthesis</a:t>
            </a:r>
            <a:endParaRPr lang="en-US" sz="1600" dirty="0"/>
          </a:p>
        </p:txBody>
      </p:sp>
      <p:sp>
        <p:nvSpPr>
          <p:cNvPr id="17" name="Text 12"/>
          <p:cNvSpPr/>
          <p:nvPr/>
        </p:nvSpPr>
        <p:spPr>
          <a:xfrm>
            <a:off x="3977640" y="2880360"/>
            <a:ext cx="192024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475569"/>
                </a:solidFill>
                <a:latin typeface="Calibri" pitchFamily="34" charset="0"/>
                <a:ea typeface="Calibri" pitchFamily="34" charset="-122"/>
                <a:cs typeface="Calibri" pitchFamily="34" charset="-120"/>
              </a:rPr>
              <a:t>Each problem spawns its own AI network. Deep neural optimization extracts patterns, consensus, and solutions.</a:t>
            </a:r>
            <a:endParaRPr lang="en-US" sz="1200" dirty="0"/>
          </a:p>
        </p:txBody>
      </p:sp>
      <p:pic>
        <p:nvPicPr>
          <p:cNvPr id="18" name="Image 3" descr="preencoded.png">    </p:cNvPr>
          <p:cNvPicPr>
            <a:picLocks noChangeAspect="1"/>
          </p:cNvPicPr>
          <p:nvPr/>
        </p:nvPicPr>
        <p:blipFill>
          <a:blip r:embed="rId4"/>
          <a:stretch>
            <a:fillRect/>
          </a:stretch>
        </p:blipFill>
        <p:spPr>
          <a:xfrm>
            <a:off x="6153912" y="2560320"/>
            <a:ext cx="274320" cy="274320"/>
          </a:xfrm>
          <a:prstGeom prst="rect">
            <a:avLst/>
          </a:prstGeom>
        </p:spPr>
      </p:pic>
      <p:sp>
        <p:nvSpPr>
          <p:cNvPr id="19" name="Shape 13"/>
          <p:cNvSpPr/>
          <p:nvPr/>
        </p:nvSpPr>
        <p:spPr>
          <a:xfrm>
            <a:off x="6858000" y="1188720"/>
            <a:ext cx="2286000" cy="30175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0" name="Shape 14"/>
          <p:cNvSpPr/>
          <p:nvPr/>
        </p:nvSpPr>
        <p:spPr>
          <a:xfrm>
            <a:off x="6858000" y="1188720"/>
            <a:ext cx="2286000" cy="54864"/>
          </a:xfrm>
          <a:prstGeom prst="rect">
            <a:avLst/>
          </a:prstGeom>
          <a:solidFill>
            <a:srgbClr val="F97316"/>
          </a:solidFill>
          <a:ln/>
        </p:spPr>
      </p:sp>
      <p:sp>
        <p:nvSpPr>
          <p:cNvPr id="21" name="Shape 15"/>
          <p:cNvSpPr/>
          <p:nvPr/>
        </p:nvSpPr>
        <p:spPr>
          <a:xfrm>
            <a:off x="7726680" y="1463040"/>
            <a:ext cx="548640" cy="548640"/>
          </a:xfrm>
          <a:prstGeom prst="ellipse">
            <a:avLst/>
          </a:prstGeom>
          <a:solidFill>
            <a:srgbClr val="FFF7ED"/>
          </a:solidFill>
          <a:ln/>
        </p:spPr>
      </p:sp>
      <p:pic>
        <p:nvPicPr>
          <p:cNvPr id="22" name="Image 4" descr="preencoded.png">    </p:cNvPr>
          <p:cNvPicPr>
            <a:picLocks noChangeAspect="1"/>
          </p:cNvPicPr>
          <p:nvPr/>
        </p:nvPicPr>
        <p:blipFill>
          <a:blip r:embed="rId5"/>
          <a:stretch>
            <a:fillRect/>
          </a:stretch>
        </p:blipFill>
        <p:spPr>
          <a:xfrm>
            <a:off x="7845552" y="1581912"/>
            <a:ext cx="310896" cy="310896"/>
          </a:xfrm>
          <a:prstGeom prst="rect">
            <a:avLst/>
          </a:prstGeom>
        </p:spPr>
      </p:pic>
      <p:sp>
        <p:nvSpPr>
          <p:cNvPr id="23" name="Text 16"/>
          <p:cNvSpPr/>
          <p:nvPr/>
        </p:nvSpPr>
        <p:spPr>
          <a:xfrm>
            <a:off x="6995160" y="2148840"/>
            <a:ext cx="2011680" cy="274320"/>
          </a:xfrm>
          <a:prstGeom prst="rect">
            <a:avLst/>
          </a:prstGeom>
          <a:noFill/>
          <a:ln/>
        </p:spPr>
        <p:txBody>
          <a:bodyPr wrap="square" lIns="0" tIns="0" rIns="0" bIns="0" rtlCol="0" anchor="ctr"/>
          <a:lstStyle/>
          <a:p>
            <a:pPr algn="ctr" indent="0" marL="0">
              <a:buNone/>
            </a:pPr>
            <a:r>
              <a:rPr lang="en-US" sz="1000" b="1" spc="200" kern="0" dirty="0">
                <a:solidFill>
                  <a:srgbClr val="F97316"/>
                </a:solidFill>
                <a:latin typeface="Calibri" pitchFamily="34" charset="0"/>
                <a:ea typeface="Calibri" pitchFamily="34" charset="-122"/>
                <a:cs typeface="Calibri" pitchFamily="34" charset="-120"/>
              </a:rPr>
              <a:t>DELIVER</a:t>
            </a:r>
            <a:endParaRPr lang="en-US" sz="1000" dirty="0"/>
          </a:p>
        </p:txBody>
      </p:sp>
      <p:sp>
        <p:nvSpPr>
          <p:cNvPr id="24" name="Text 17"/>
          <p:cNvSpPr/>
          <p:nvPr/>
        </p:nvSpPr>
        <p:spPr>
          <a:xfrm>
            <a:off x="6995160" y="2423160"/>
            <a:ext cx="201168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Informed Decisions</a:t>
            </a:r>
            <a:endParaRPr lang="en-US" sz="1600" dirty="0"/>
          </a:p>
        </p:txBody>
      </p:sp>
      <p:sp>
        <p:nvSpPr>
          <p:cNvPr id="25" name="Text 18"/>
          <p:cNvSpPr/>
          <p:nvPr/>
        </p:nvSpPr>
        <p:spPr>
          <a:xfrm>
            <a:off x="7040880" y="2880360"/>
            <a:ext cx="1920240" cy="1097280"/>
          </a:xfrm>
          <a:prstGeom prst="rect">
            <a:avLst/>
          </a:prstGeom>
          <a:noFill/>
          <a:ln/>
        </p:spPr>
        <p:txBody>
          <a:bodyPr wrap="square" lIns="0" tIns="0" rIns="0" bIns="0" rtlCol="0" anchor="ctr"/>
          <a:lstStyle/>
          <a:p>
            <a:pPr algn="ctr" indent="0" marL="0">
              <a:lnSpc>
                <a:spcPct val="130000"/>
              </a:lnSpc>
              <a:buNone/>
            </a:pPr>
            <a:r>
              <a:rPr lang="en-US" sz="1200" dirty="0">
                <a:solidFill>
                  <a:srgbClr val="475569"/>
                </a:solidFill>
                <a:latin typeface="Calibri" pitchFamily="34" charset="0"/>
                <a:ea typeface="Calibri" pitchFamily="34" charset="-122"/>
                <a:cs typeface="Calibri" pitchFamily="34" charset="-120"/>
              </a:rPr>
              <a:t>Leaders see clear priorities — structured collective intelligence, not outrage. Decisions backed by real consensus.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Trebuchet MS" pitchFamily="34" charset="0"/>
                <a:ea typeface="Trebuchet MS" pitchFamily="34" charset="-122"/>
                <a:cs typeface="Trebuchet MS" pitchFamily="34" charset="-120"/>
              </a:rPr>
              <a:t>Traditional vs. Sushaasan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657600"/>
                <a:gridCol w="4023360"/>
              </a:tblGrid>
              <a:tr h="411480">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Traditional Systems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Sushaasan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Forms and bureaucracy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Natural conversation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Identity required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Anonymous option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Loud voices dominate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Every voice equal weight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Manual processing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AI synthesis at scale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Days/weeks to respond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Real-time insights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Government-only access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Multi-level: colleges, societies, govt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One-way grievance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Two-way collective intelligence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r>
              <a:tr h="384048">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0.19% participation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1E3A8A"/>
                          </a:solidFill>
                          <a:latin typeface="Calibri" pitchFamily="34" charset="0"/>
                          <a:ea typeface="Calibri" pitchFamily="34" charset="-122"/>
                          <a:cs typeface="Calibri" pitchFamily="34" charset="-120"/>
                        </a:rPr>
                        <a:t>Target: millions participating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Sovereign Indian AI for Democracy</a:t>
            </a:r>
            <a:endParaRPr lang="en-US" sz="2400" dirty="0"/>
          </a:p>
        </p:txBody>
      </p:sp>
      <p:sp>
        <p:nvSpPr>
          <p:cNvPr id="3" name="Shape 1"/>
          <p:cNvSpPr/>
          <p:nvPr/>
        </p:nvSpPr>
        <p:spPr>
          <a:xfrm>
            <a:off x="731520" y="1143000"/>
            <a:ext cx="5303520" cy="822960"/>
          </a:xfrm>
          <a:prstGeom prst="rect">
            <a:avLst/>
          </a:prstGeom>
          <a:solidFill>
            <a:srgbClr val="1E3A8A"/>
          </a:solidFill>
          <a:ln/>
          <a:effectLst>
            <a:outerShdw sx="100000" sy="100000" kx="0" ky="0" algn="bl" rotWithShape="0" blurRad="101600" dist="38100" dir="8100000">
              <a:srgbClr val="000000">
                <a:alpha val="10000"/>
              </a:srgbClr>
            </a:outerShdw>
          </a:effectLst>
        </p:spPr>
      </p:sp>
      <p:sp>
        <p:nvSpPr>
          <p:cNvPr id="4" name="Text 2"/>
          <p:cNvSpPr/>
          <p:nvPr/>
        </p:nvSpPr>
        <p:spPr>
          <a:xfrm>
            <a:off x="914400" y="1234440"/>
            <a:ext cx="1371600" cy="274320"/>
          </a:xfrm>
          <a:prstGeom prst="rect">
            <a:avLst/>
          </a:prstGeom>
          <a:noFill/>
          <a:ln/>
        </p:spPr>
        <p:txBody>
          <a:bodyPr wrap="square" lIns="0" tIns="0" rIns="0" bIns="0" rtlCol="0" anchor="ctr"/>
          <a:lstStyle/>
          <a:p>
            <a:pPr indent="0" marL="0">
              <a:buNone/>
            </a:pPr>
            <a:r>
              <a:rPr lang="en-US" sz="900" b="1" spc="200" kern="0" dirty="0">
                <a:solidFill>
                  <a:srgbClr val="F97316"/>
                </a:solidFill>
                <a:latin typeface="Calibri" pitchFamily="34" charset="0"/>
                <a:ea typeface="Calibri" pitchFamily="34" charset="-122"/>
                <a:cs typeface="Calibri" pitchFamily="34" charset="-120"/>
              </a:rPr>
              <a:t>OUTPUT</a:t>
            </a:r>
            <a:endParaRPr lang="en-US" sz="900" dirty="0"/>
          </a:p>
        </p:txBody>
      </p:sp>
      <p:sp>
        <p:nvSpPr>
          <p:cNvPr id="5" name="Text 3"/>
          <p:cNvSpPr/>
          <p:nvPr/>
        </p:nvSpPr>
        <p:spPr>
          <a:xfrm>
            <a:off x="914400" y="1508760"/>
            <a:ext cx="493776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Leader Dashboard  •  Citizen Feedback  •  API Integration</a:t>
            </a:r>
            <a:endParaRPr lang="en-US" sz="1100" dirty="0"/>
          </a:p>
        </p:txBody>
      </p:sp>
      <p:sp>
        <p:nvSpPr>
          <p:cNvPr id="6" name="Shape 4"/>
          <p:cNvSpPr/>
          <p:nvPr/>
        </p:nvSpPr>
        <p:spPr>
          <a:xfrm>
            <a:off x="731520" y="2148840"/>
            <a:ext cx="5303520" cy="822960"/>
          </a:xfrm>
          <a:prstGeom prst="rect">
            <a:avLst/>
          </a:prstGeom>
          <a:solidFill>
            <a:srgbClr val="F97316"/>
          </a:solidFill>
          <a:ln/>
          <a:effectLst>
            <a:outerShdw sx="100000" sy="100000" kx="0" ky="0" algn="bl" rotWithShape="0" blurRad="101600" dist="38100" dir="8100000">
              <a:srgbClr val="000000">
                <a:alpha val="10000"/>
              </a:srgbClr>
            </a:outerShdw>
          </a:effectLst>
        </p:spPr>
      </p:sp>
      <p:sp>
        <p:nvSpPr>
          <p:cNvPr id="7" name="Text 5"/>
          <p:cNvSpPr/>
          <p:nvPr/>
        </p:nvSpPr>
        <p:spPr>
          <a:xfrm>
            <a:off x="914400" y="2240280"/>
            <a:ext cx="1371600" cy="27432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AI PIPELINE</a:t>
            </a:r>
            <a:endParaRPr lang="en-US" sz="900" dirty="0"/>
          </a:p>
        </p:txBody>
      </p:sp>
      <p:sp>
        <p:nvSpPr>
          <p:cNvPr id="8" name="Text 6"/>
          <p:cNvSpPr/>
          <p:nvPr/>
        </p:nvSpPr>
        <p:spPr>
          <a:xfrm>
            <a:off x="914400" y="2514600"/>
            <a:ext cx="493776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Language Detection → Topic Clustering → Sentiment → Neural Network → Consensus → Solutions</a:t>
            </a:r>
            <a:endParaRPr lang="en-US" sz="1100" dirty="0"/>
          </a:p>
        </p:txBody>
      </p:sp>
      <p:sp>
        <p:nvSpPr>
          <p:cNvPr id="9" name="Shape 7"/>
          <p:cNvSpPr/>
          <p:nvPr/>
        </p:nvSpPr>
        <p:spPr>
          <a:xfrm>
            <a:off x="731520" y="3154680"/>
            <a:ext cx="5303520" cy="822960"/>
          </a:xfrm>
          <a:prstGeom prst="rect">
            <a:avLst/>
          </a:prstGeom>
          <a:solidFill>
            <a:srgbClr val="1E293B"/>
          </a:solidFill>
          <a:ln/>
          <a:effectLst>
            <a:outerShdw sx="100000" sy="100000" kx="0" ky="0" algn="bl" rotWithShape="0" blurRad="101600" dist="38100" dir="8100000">
              <a:srgbClr val="000000">
                <a:alpha val="10000"/>
              </a:srgbClr>
            </a:outerShdw>
          </a:effectLst>
        </p:spPr>
      </p:sp>
      <p:sp>
        <p:nvSpPr>
          <p:cNvPr id="10" name="Text 8"/>
          <p:cNvSpPr/>
          <p:nvPr/>
        </p:nvSpPr>
        <p:spPr>
          <a:xfrm>
            <a:off x="914400" y="3246120"/>
            <a:ext cx="1371600" cy="274320"/>
          </a:xfrm>
          <a:prstGeom prst="rect">
            <a:avLst/>
          </a:prstGeom>
          <a:noFill/>
          <a:ln/>
        </p:spPr>
        <p:txBody>
          <a:bodyPr wrap="square" lIns="0" tIns="0" rIns="0" bIns="0" rtlCol="0" anchor="ctr"/>
          <a:lstStyle/>
          <a:p>
            <a:pPr indent="0" marL="0">
              <a:buNone/>
            </a:pPr>
            <a:r>
              <a:rPr lang="en-US" sz="900" b="1" spc="200" kern="0" dirty="0">
                <a:solidFill>
                  <a:srgbClr val="F97316"/>
                </a:solidFill>
                <a:latin typeface="Calibri" pitchFamily="34" charset="0"/>
                <a:ea typeface="Calibri" pitchFamily="34" charset="-122"/>
                <a:cs typeface="Calibri" pitchFamily="34" charset="-120"/>
              </a:rPr>
              <a:t>DATA SOURCES</a:t>
            </a:r>
            <a:endParaRPr lang="en-US" sz="900" dirty="0"/>
          </a:p>
        </p:txBody>
      </p:sp>
      <p:sp>
        <p:nvSpPr>
          <p:cNvPr id="11" name="Text 9"/>
          <p:cNvSpPr/>
          <p:nvPr/>
        </p:nvSpPr>
        <p:spPr>
          <a:xfrm>
            <a:off x="914400" y="3520440"/>
            <a:ext cx="4937760" cy="36576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WhatsApp  •  In-App  •  Social Media  •  Anonymous  •  22 Languages</a:t>
            </a:r>
            <a:endParaRPr lang="en-US" sz="1100" dirty="0"/>
          </a:p>
        </p:txBody>
      </p:sp>
      <p:sp>
        <p:nvSpPr>
          <p:cNvPr id="12" name="Text 10"/>
          <p:cNvSpPr/>
          <p:nvPr/>
        </p:nvSpPr>
        <p:spPr>
          <a:xfrm>
            <a:off x="3200400" y="2880360"/>
            <a:ext cx="457200" cy="274320"/>
          </a:xfrm>
          <a:prstGeom prst="rect">
            <a:avLst/>
          </a:prstGeom>
          <a:noFill/>
          <a:ln/>
        </p:spPr>
        <p:txBody>
          <a:bodyPr wrap="square" lIns="0" tIns="0" rIns="0" bIns="0" rtlCol="0" anchor="ctr"/>
          <a:lstStyle/>
          <a:p>
            <a:pPr algn="ctr" indent="0" marL="0">
              <a:buNone/>
            </a:pPr>
            <a:r>
              <a:rPr lang="en-US" sz="1400" dirty="0">
                <a:solidFill>
                  <a:srgbClr val="F97316"/>
                </a:solidFill>
              </a:rPr>
              <a:t>▲</a:t>
            </a:r>
            <a:endParaRPr lang="en-US" sz="1400" dirty="0"/>
          </a:p>
        </p:txBody>
      </p:sp>
      <p:sp>
        <p:nvSpPr>
          <p:cNvPr id="13" name="Text 11"/>
          <p:cNvSpPr/>
          <p:nvPr/>
        </p:nvSpPr>
        <p:spPr>
          <a:xfrm>
            <a:off x="3200400" y="1874520"/>
            <a:ext cx="457200" cy="274320"/>
          </a:xfrm>
          <a:prstGeom prst="rect">
            <a:avLst/>
          </a:prstGeom>
          <a:noFill/>
          <a:ln/>
        </p:spPr>
        <p:txBody>
          <a:bodyPr wrap="square" lIns="0" tIns="0" rIns="0" bIns="0" rtlCol="0" anchor="ctr"/>
          <a:lstStyle/>
          <a:p>
            <a:pPr algn="ctr" indent="0" marL="0">
              <a:buNone/>
            </a:pPr>
            <a:r>
              <a:rPr lang="en-US" sz="1400" dirty="0">
                <a:solidFill>
                  <a:srgbClr val="F97316"/>
                </a:solidFill>
              </a:rPr>
              <a:t>▲</a:t>
            </a:r>
            <a:endParaRPr lang="en-US" sz="1400" dirty="0"/>
          </a:p>
        </p:txBody>
      </p:sp>
      <p:sp>
        <p:nvSpPr>
          <p:cNvPr id="14" name="Shape 12"/>
          <p:cNvSpPr/>
          <p:nvPr/>
        </p:nvSpPr>
        <p:spPr>
          <a:xfrm>
            <a:off x="6400800" y="1143000"/>
            <a:ext cx="2286000" cy="28346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5" name="Text 13"/>
          <p:cNvSpPr/>
          <p:nvPr/>
        </p:nvSpPr>
        <p:spPr>
          <a:xfrm>
            <a:off x="6537960" y="1280160"/>
            <a:ext cx="2011680" cy="274320"/>
          </a:xfrm>
          <a:prstGeom prst="rect">
            <a:avLst/>
          </a:prstGeom>
          <a:noFill/>
          <a:ln/>
        </p:spPr>
        <p:txBody>
          <a:bodyPr wrap="square" lIns="0" tIns="0" rIns="0" bIns="0" rtlCol="0" anchor="ctr"/>
          <a:lstStyle/>
          <a:p>
            <a:pPr indent="0" marL="0">
              <a:buNone/>
            </a:pPr>
            <a:r>
              <a:rPr lang="en-US" sz="1000" b="1" spc="200" kern="0" dirty="0">
                <a:solidFill>
                  <a:srgbClr val="F97316"/>
                </a:solidFill>
                <a:latin typeface="Calibri" pitchFamily="34" charset="0"/>
                <a:ea typeface="Calibri" pitchFamily="34" charset="-122"/>
                <a:cs typeface="Calibri" pitchFamily="34" charset="-120"/>
              </a:rPr>
              <a:t>TECH STACK</a:t>
            </a:r>
            <a:endParaRPr lang="en-US" sz="1000" dirty="0"/>
          </a:p>
        </p:txBody>
      </p:sp>
      <p:sp>
        <p:nvSpPr>
          <p:cNvPr id="16" name="Text 14"/>
          <p:cNvSpPr/>
          <p:nvPr/>
        </p:nvSpPr>
        <p:spPr>
          <a:xfrm>
            <a:off x="6537960" y="1600200"/>
            <a:ext cx="2011680" cy="21945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Sarvam AI / Bhashini integration</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Sovereign Indian LLM stack</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Full data sovereignty</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Scalable to 10M+ users</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React, Node.js, PostgreSQL</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BullMQ AI pipeline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Trebuchet MS" pitchFamily="34" charset="0"/>
                <a:ea typeface="Trebuchet MS" pitchFamily="34" charset="-122"/>
                <a:cs typeface="Trebuchet MS" pitchFamily="34" charset="-120"/>
              </a:rPr>
              <a:t>India's AI Governance Moment</a:t>
            </a:r>
            <a:endParaRPr lang="en-US" sz="3200" dirty="0"/>
          </a:p>
        </p:txBody>
      </p:sp>
      <p:sp>
        <p:nvSpPr>
          <p:cNvPr id="3" name="Shape 1"/>
          <p:cNvSpPr/>
          <p:nvPr/>
        </p:nvSpPr>
        <p:spPr>
          <a:xfrm>
            <a:off x="731520" y="1143000"/>
            <a:ext cx="1828800" cy="283464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868680" y="1325880"/>
            <a:ext cx="320040" cy="320040"/>
          </a:xfrm>
          <a:prstGeom prst="rect">
            <a:avLst/>
          </a:prstGeom>
        </p:spPr>
      </p:pic>
      <p:sp>
        <p:nvSpPr>
          <p:cNvPr id="5" name="Text 2"/>
          <p:cNvSpPr/>
          <p:nvPr/>
        </p:nvSpPr>
        <p:spPr>
          <a:xfrm>
            <a:off x="1234440" y="1325880"/>
            <a:ext cx="118872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Digital Penetration</a:t>
            </a:r>
            <a:endParaRPr lang="en-US" sz="1200" dirty="0"/>
          </a:p>
        </p:txBody>
      </p:sp>
      <p:sp>
        <p:nvSpPr>
          <p:cNvPr id="6" name="Text 3"/>
          <p:cNvSpPr/>
          <p:nvPr/>
        </p:nvSpPr>
        <p:spPr>
          <a:xfrm>
            <a:off x="868680" y="1828800"/>
            <a:ext cx="1554480" cy="320040"/>
          </a:xfrm>
          <a:prstGeom prst="rect">
            <a:avLst/>
          </a:prstGeom>
          <a:noFill/>
          <a:ln/>
        </p:spPr>
        <p:txBody>
          <a:bodyPr wrap="square" lIns="0" tIns="0" rIns="0" bIns="0" rtlCol="0" anchor="ctr"/>
          <a:lstStyle/>
          <a:p>
            <a:pPr indent="0" marL="0">
              <a:buNone/>
            </a:pPr>
            <a:r>
              <a:rPr lang="en-US" sz="1800" b="1" dirty="0">
                <a:solidFill>
                  <a:srgbClr val="F97316"/>
                </a:solidFill>
                <a:latin typeface="Trebuchet MS" pitchFamily="34" charset="0"/>
                <a:ea typeface="Trebuchet MS" pitchFamily="34" charset="-122"/>
                <a:cs typeface="Trebuchet MS" pitchFamily="34" charset="-120"/>
              </a:rPr>
              <a:t>700M+</a:t>
            </a:r>
            <a:endParaRPr lang="en-US" sz="1800" dirty="0"/>
          </a:p>
        </p:txBody>
      </p:sp>
      <p:sp>
        <p:nvSpPr>
          <p:cNvPr id="7" name="Text 4"/>
          <p:cNvSpPr/>
          <p:nvPr/>
        </p:nvSpPr>
        <p:spPr>
          <a:xfrm>
            <a:off x="868680" y="2194560"/>
            <a:ext cx="1554480" cy="14630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Indians online</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400M+ on WhatsApp</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Gen Z expects digital participation</a:t>
            </a:r>
            <a:endParaRPr lang="en-US" sz="1000" dirty="0"/>
          </a:p>
        </p:txBody>
      </p:sp>
      <p:sp>
        <p:nvSpPr>
          <p:cNvPr id="8" name="Shape 5"/>
          <p:cNvSpPr/>
          <p:nvPr/>
        </p:nvSpPr>
        <p:spPr>
          <a:xfrm>
            <a:off x="2743200" y="1143000"/>
            <a:ext cx="1828800" cy="283464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2880360" y="1325880"/>
            <a:ext cx="320040" cy="320040"/>
          </a:xfrm>
          <a:prstGeom prst="rect">
            <a:avLst/>
          </a:prstGeom>
        </p:spPr>
      </p:pic>
      <p:sp>
        <p:nvSpPr>
          <p:cNvPr id="10" name="Text 6"/>
          <p:cNvSpPr/>
          <p:nvPr/>
        </p:nvSpPr>
        <p:spPr>
          <a:xfrm>
            <a:off x="3246120" y="1325880"/>
            <a:ext cx="118872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Government Push</a:t>
            </a:r>
            <a:endParaRPr lang="en-US" sz="1200" dirty="0"/>
          </a:p>
        </p:txBody>
      </p:sp>
      <p:sp>
        <p:nvSpPr>
          <p:cNvPr id="11" name="Text 7"/>
          <p:cNvSpPr/>
          <p:nvPr/>
        </p:nvSpPr>
        <p:spPr>
          <a:xfrm>
            <a:off x="2880360" y="1828800"/>
            <a:ext cx="1554480" cy="320040"/>
          </a:xfrm>
          <a:prstGeom prst="rect">
            <a:avLst/>
          </a:prstGeom>
          <a:noFill/>
          <a:ln/>
        </p:spPr>
        <p:txBody>
          <a:bodyPr wrap="square" lIns="0" tIns="0" rIns="0" bIns="0" rtlCol="0" anchor="ctr"/>
          <a:lstStyle/>
          <a:p>
            <a:pPr indent="0" marL="0">
              <a:buNone/>
            </a:pPr>
            <a:r>
              <a:rPr lang="en-US" sz="1800" b="1" dirty="0">
                <a:solidFill>
                  <a:srgbClr val="F97316"/>
                </a:solidFill>
                <a:latin typeface="Trebuchet MS" pitchFamily="34" charset="0"/>
                <a:ea typeface="Trebuchet MS" pitchFamily="34" charset="-122"/>
                <a:cs typeface="Trebuchet MS" pitchFamily="34" charset="-120"/>
              </a:rPr>
              <a:t>₹10,372Cr</a:t>
            </a:r>
            <a:endParaRPr lang="en-US" sz="1800" dirty="0"/>
          </a:p>
        </p:txBody>
      </p:sp>
      <p:sp>
        <p:nvSpPr>
          <p:cNvPr id="12" name="Text 8"/>
          <p:cNvSpPr/>
          <p:nvPr/>
        </p:nvSpPr>
        <p:spPr>
          <a:xfrm>
            <a:off x="2880360" y="2194560"/>
            <a:ext cx="1554480" cy="14630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IndiaAI Mission budget</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NextGen CPGRAMS modernization</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AI4Bharat partnerships</a:t>
            </a:r>
            <a:endParaRPr lang="en-US" sz="1000" dirty="0"/>
          </a:p>
        </p:txBody>
      </p:sp>
      <p:sp>
        <p:nvSpPr>
          <p:cNvPr id="13" name="Shape 9"/>
          <p:cNvSpPr/>
          <p:nvPr/>
        </p:nvSpPr>
        <p:spPr>
          <a:xfrm>
            <a:off x="4754880" y="1143000"/>
            <a:ext cx="1828800" cy="283464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4" name="Image 2" descr="preencoded.png">    </p:cNvPr>
          <p:cNvPicPr>
            <a:picLocks noChangeAspect="1"/>
          </p:cNvPicPr>
          <p:nvPr/>
        </p:nvPicPr>
        <p:blipFill>
          <a:blip r:embed="rId3"/>
          <a:stretch>
            <a:fillRect/>
          </a:stretch>
        </p:blipFill>
        <p:spPr>
          <a:xfrm>
            <a:off x="4892040" y="1325880"/>
            <a:ext cx="320040" cy="320040"/>
          </a:xfrm>
          <a:prstGeom prst="rect">
            <a:avLst/>
          </a:prstGeom>
        </p:spPr>
      </p:pic>
      <p:sp>
        <p:nvSpPr>
          <p:cNvPr id="15" name="Text 10"/>
          <p:cNvSpPr/>
          <p:nvPr/>
        </p:nvSpPr>
        <p:spPr>
          <a:xfrm>
            <a:off x="5257800" y="1325880"/>
            <a:ext cx="118872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Current Gap</a:t>
            </a:r>
            <a:endParaRPr lang="en-US" sz="1200" dirty="0"/>
          </a:p>
        </p:txBody>
      </p:sp>
      <p:sp>
        <p:nvSpPr>
          <p:cNvPr id="16" name="Text 11"/>
          <p:cNvSpPr/>
          <p:nvPr/>
        </p:nvSpPr>
        <p:spPr>
          <a:xfrm>
            <a:off x="4892040" y="1828800"/>
            <a:ext cx="1554480" cy="320040"/>
          </a:xfrm>
          <a:prstGeom prst="rect">
            <a:avLst/>
          </a:prstGeom>
          <a:noFill/>
          <a:ln/>
        </p:spPr>
        <p:txBody>
          <a:bodyPr wrap="square" lIns="0" tIns="0" rIns="0" bIns="0" rtlCol="0" anchor="ctr"/>
          <a:lstStyle/>
          <a:p>
            <a:pPr indent="0" marL="0">
              <a:buNone/>
            </a:pPr>
            <a:r>
              <a:rPr lang="en-US" sz="1800" b="1" dirty="0">
                <a:solidFill>
                  <a:srgbClr val="F97316"/>
                </a:solidFill>
                <a:latin typeface="Trebuchet MS" pitchFamily="34" charset="0"/>
                <a:ea typeface="Trebuchet MS" pitchFamily="34" charset="-122"/>
                <a:cs typeface="Trebuchet MS" pitchFamily="34" charset="-120"/>
              </a:rPr>
              <a:t>0.19%</a:t>
            </a:r>
            <a:endParaRPr lang="en-US" sz="1800" dirty="0"/>
          </a:p>
        </p:txBody>
      </p:sp>
      <p:sp>
        <p:nvSpPr>
          <p:cNvPr id="17" name="Text 12"/>
          <p:cNvSpPr/>
          <p:nvPr/>
        </p:nvSpPr>
        <p:spPr>
          <a:xfrm>
            <a:off x="4892040" y="2194560"/>
            <a:ext cx="1554480" cy="14630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CPGRAMS reach</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Social media = noise, not solutions</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No CI infrastructure exists</a:t>
            </a:r>
            <a:endParaRPr lang="en-US" sz="1000" dirty="0"/>
          </a:p>
        </p:txBody>
      </p:sp>
      <p:sp>
        <p:nvSpPr>
          <p:cNvPr id="18" name="Shape 13"/>
          <p:cNvSpPr/>
          <p:nvPr/>
        </p:nvSpPr>
        <p:spPr>
          <a:xfrm>
            <a:off x="6766560" y="1143000"/>
            <a:ext cx="1828800" cy="283464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9" name="Image 3" descr="preencoded.png">    </p:cNvPr>
          <p:cNvPicPr>
            <a:picLocks noChangeAspect="1"/>
          </p:cNvPicPr>
          <p:nvPr/>
        </p:nvPicPr>
        <p:blipFill>
          <a:blip r:embed="rId4"/>
          <a:stretch>
            <a:fillRect/>
          </a:stretch>
        </p:blipFill>
        <p:spPr>
          <a:xfrm>
            <a:off x="6903720" y="1325880"/>
            <a:ext cx="320040" cy="320040"/>
          </a:xfrm>
          <a:prstGeom prst="rect">
            <a:avLst/>
          </a:prstGeom>
        </p:spPr>
      </p:pic>
      <p:sp>
        <p:nvSpPr>
          <p:cNvPr id="20" name="Text 14"/>
          <p:cNvSpPr/>
          <p:nvPr/>
        </p:nvSpPr>
        <p:spPr>
          <a:xfrm>
            <a:off x="7269480" y="1325880"/>
            <a:ext cx="118872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Market Size</a:t>
            </a:r>
            <a:endParaRPr lang="en-US" sz="1200" dirty="0"/>
          </a:p>
        </p:txBody>
      </p:sp>
      <p:sp>
        <p:nvSpPr>
          <p:cNvPr id="21" name="Text 15"/>
          <p:cNvSpPr/>
          <p:nvPr/>
        </p:nvSpPr>
        <p:spPr>
          <a:xfrm>
            <a:off x="6903720" y="1828800"/>
            <a:ext cx="1554480" cy="320040"/>
          </a:xfrm>
          <a:prstGeom prst="rect">
            <a:avLst/>
          </a:prstGeom>
          <a:noFill/>
          <a:ln/>
        </p:spPr>
        <p:txBody>
          <a:bodyPr wrap="square" lIns="0" tIns="0" rIns="0" bIns="0" rtlCol="0" anchor="ctr"/>
          <a:lstStyle/>
          <a:p>
            <a:pPr indent="0" marL="0">
              <a:buNone/>
            </a:pPr>
            <a:r>
              <a:rPr lang="en-US" sz="1800" b="1" dirty="0">
                <a:solidFill>
                  <a:srgbClr val="F97316"/>
                </a:solidFill>
                <a:latin typeface="Trebuchet MS" pitchFamily="34" charset="0"/>
                <a:ea typeface="Trebuchet MS" pitchFamily="34" charset="-122"/>
                <a:cs typeface="Trebuchet MS" pitchFamily="34" charset="-120"/>
              </a:rPr>
              <a:t>₹500Cr+</a:t>
            </a:r>
            <a:endParaRPr lang="en-US" sz="1800" dirty="0"/>
          </a:p>
        </p:txBody>
      </p:sp>
      <p:sp>
        <p:nvSpPr>
          <p:cNvPr id="22" name="Text 16"/>
          <p:cNvSpPr/>
          <p:nvPr/>
        </p:nvSpPr>
        <p:spPr>
          <a:xfrm>
            <a:off x="6903720" y="2194560"/>
            <a:ext cx="1554480" cy="14630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Addressable govt contracts</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100+ smart cities</a:t>
            </a:r>
            <a:endParaRPr lang="en-US" sz="1000" dirty="0"/>
          </a:p>
          <a:p>
            <a:pPr marL="342900" indent="-342900">
              <a:spcAft>
                <a:spcPts val="500"/>
              </a:spcAft>
              <a:buSzPct val="100000"/>
              <a:buChar char="•"/>
            </a:pPr>
            <a:r>
              <a:rPr lang="en-US" sz="1000" dirty="0">
                <a:solidFill>
                  <a:srgbClr val="475569"/>
                </a:solidFill>
                <a:latin typeface="Calibri" pitchFamily="34" charset="0"/>
                <a:ea typeface="Calibri" pitchFamily="34" charset="-122"/>
                <a:cs typeface="Calibri" pitchFamily="34" charset="-120"/>
              </a:rPr>
              <a:t>600+ districts, 28 states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Trebuchet MS" pitchFamily="34" charset="0"/>
                <a:ea typeface="Trebuchet MS" pitchFamily="34" charset="-122"/>
                <a:cs typeface="Trebuchet MS" pitchFamily="34" charset="-120"/>
              </a:rPr>
              <a:t>Start Small, Scale Everywhere</a:t>
            </a:r>
            <a:endParaRPr lang="en-US" sz="3200" dirty="0"/>
          </a:p>
        </p:txBody>
      </p:sp>
      <p:sp>
        <p:nvSpPr>
          <p:cNvPr id="3" name="Shape 1"/>
          <p:cNvSpPr/>
          <p:nvPr/>
        </p:nvSpPr>
        <p:spPr>
          <a:xfrm>
            <a:off x="731520" y="1097280"/>
            <a:ext cx="1828800" cy="31089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731520" y="1097280"/>
            <a:ext cx="1828800" cy="731520"/>
          </a:xfrm>
          <a:prstGeom prst="rect">
            <a:avLst/>
          </a:prstGeom>
          <a:solidFill>
            <a:srgbClr val="1E3A8A"/>
          </a:solidFill>
          <a:ln/>
        </p:spPr>
      </p:sp>
      <p:pic>
        <p:nvPicPr>
          <p:cNvPr id="5" name="Image 0" descr="preencoded.png">    </p:cNvPr>
          <p:cNvPicPr>
            <a:picLocks noChangeAspect="1"/>
          </p:cNvPicPr>
          <p:nvPr/>
        </p:nvPicPr>
        <p:blipFill>
          <a:blip r:embed="rId1"/>
          <a:stretch>
            <a:fillRect/>
          </a:stretch>
        </p:blipFill>
        <p:spPr>
          <a:xfrm>
            <a:off x="1508760" y="1188720"/>
            <a:ext cx="274320" cy="274320"/>
          </a:xfrm>
          <a:prstGeom prst="rect">
            <a:avLst/>
          </a:prstGeom>
        </p:spPr>
      </p:pic>
      <p:sp>
        <p:nvSpPr>
          <p:cNvPr id="6" name="Text 3"/>
          <p:cNvSpPr/>
          <p:nvPr/>
        </p:nvSpPr>
        <p:spPr>
          <a:xfrm>
            <a:off x="822960" y="1508760"/>
            <a:ext cx="1645920" cy="22860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PHASE 1</a:t>
            </a:r>
            <a:endParaRPr lang="en-US" sz="900" dirty="0"/>
          </a:p>
        </p:txBody>
      </p:sp>
      <p:sp>
        <p:nvSpPr>
          <p:cNvPr id="7" name="Text 4"/>
          <p:cNvSpPr/>
          <p:nvPr/>
        </p:nvSpPr>
        <p:spPr>
          <a:xfrm>
            <a:off x="822960" y="1920240"/>
            <a:ext cx="164592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College Proof</a:t>
            </a:r>
            <a:endParaRPr lang="en-US" sz="1400" dirty="0"/>
          </a:p>
        </p:txBody>
      </p:sp>
      <p:sp>
        <p:nvSpPr>
          <p:cNvPr id="8" name="Text 5"/>
          <p:cNvSpPr/>
          <p:nvPr/>
        </p:nvSpPr>
        <p:spPr>
          <a:xfrm>
            <a:off x="822960" y="2194560"/>
            <a:ext cx="164592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Months 1-6</a:t>
            </a:r>
            <a:endParaRPr lang="en-US" sz="1000" dirty="0"/>
          </a:p>
        </p:txBody>
      </p:sp>
      <p:sp>
        <p:nvSpPr>
          <p:cNvPr id="9" name="Text 6"/>
          <p:cNvSpPr/>
          <p:nvPr/>
        </p:nvSpPr>
        <p:spPr>
          <a:xfrm>
            <a:off x="841248" y="2514600"/>
            <a:ext cx="1609344" cy="11887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1 college, 1K-10K students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Prove AI synthesis works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30% campus adoption</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Revenue: Free</a:t>
            </a:r>
            <a:endParaRPr lang="en-US" sz="1000" dirty="0"/>
          </a:p>
        </p:txBody>
      </p:sp>
      <p:sp>
        <p:nvSpPr>
          <p:cNvPr id="10" name="Shape 7"/>
          <p:cNvSpPr/>
          <p:nvPr/>
        </p:nvSpPr>
        <p:spPr>
          <a:xfrm>
            <a:off x="822960" y="3794760"/>
            <a:ext cx="1645920" cy="274320"/>
          </a:xfrm>
          <a:prstGeom prst="rect">
            <a:avLst/>
          </a:prstGeom>
          <a:solidFill>
            <a:srgbClr val="FFF7ED"/>
          </a:solidFill>
          <a:ln/>
        </p:spPr>
      </p:sp>
      <p:sp>
        <p:nvSpPr>
          <p:cNvPr id="11" name="Text 8"/>
          <p:cNvSpPr/>
          <p:nvPr/>
        </p:nvSpPr>
        <p:spPr>
          <a:xfrm>
            <a:off x="822960" y="3794760"/>
            <a:ext cx="1645920" cy="274320"/>
          </a:xfrm>
          <a:prstGeom prst="rect">
            <a:avLst/>
          </a:prstGeom>
          <a:noFill/>
          <a:ln/>
        </p:spPr>
        <p:txBody>
          <a:bodyPr wrap="square" lIns="0" tIns="0" rIns="0" bIns="0" rtlCol="0" anchor="ctr"/>
          <a:lstStyle/>
          <a:p>
            <a:pPr algn="ctr" indent="0" marL="0">
              <a:buNone/>
            </a:pPr>
            <a:r>
              <a:rPr lang="en-US" sz="900" b="1" dirty="0">
                <a:solidFill>
                  <a:srgbClr val="F97316"/>
                </a:solidFill>
                <a:latin typeface="Calibri" pitchFamily="34" charset="0"/>
                <a:ea typeface="Calibri" pitchFamily="34" charset="-122"/>
                <a:cs typeface="Calibri" pitchFamily="34" charset="-120"/>
              </a:rPr>
              <a:t>3+ documented wins</a:t>
            </a:r>
            <a:endParaRPr lang="en-US" sz="900" dirty="0"/>
          </a:p>
        </p:txBody>
      </p:sp>
      <p:sp>
        <p:nvSpPr>
          <p:cNvPr id="12" name="Shape 9"/>
          <p:cNvSpPr/>
          <p:nvPr/>
        </p:nvSpPr>
        <p:spPr>
          <a:xfrm>
            <a:off x="2743200" y="1097280"/>
            <a:ext cx="1828800" cy="31089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3" name="Shape 10"/>
          <p:cNvSpPr/>
          <p:nvPr/>
        </p:nvSpPr>
        <p:spPr>
          <a:xfrm>
            <a:off x="2743200" y="1097280"/>
            <a:ext cx="1828800" cy="731520"/>
          </a:xfrm>
          <a:prstGeom prst="rect">
            <a:avLst/>
          </a:prstGeom>
          <a:solidFill>
            <a:srgbClr val="1E3A8A"/>
          </a:solidFill>
          <a:ln/>
        </p:spPr>
      </p:sp>
      <p:pic>
        <p:nvPicPr>
          <p:cNvPr id="14" name="Image 1" descr="preencoded.png">    </p:cNvPr>
          <p:cNvPicPr>
            <a:picLocks noChangeAspect="1"/>
          </p:cNvPicPr>
          <p:nvPr/>
        </p:nvPicPr>
        <p:blipFill>
          <a:blip r:embed="rId2"/>
          <a:stretch>
            <a:fillRect/>
          </a:stretch>
        </p:blipFill>
        <p:spPr>
          <a:xfrm>
            <a:off x="3520440" y="1188720"/>
            <a:ext cx="274320" cy="274320"/>
          </a:xfrm>
          <a:prstGeom prst="rect">
            <a:avLst/>
          </a:prstGeom>
        </p:spPr>
      </p:pic>
      <p:sp>
        <p:nvSpPr>
          <p:cNvPr id="15" name="Text 11"/>
          <p:cNvSpPr/>
          <p:nvPr/>
        </p:nvSpPr>
        <p:spPr>
          <a:xfrm>
            <a:off x="2834640" y="1508760"/>
            <a:ext cx="1645920" cy="22860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PHASE 2</a:t>
            </a:r>
            <a:endParaRPr lang="en-US" sz="900" dirty="0"/>
          </a:p>
        </p:txBody>
      </p:sp>
      <p:sp>
        <p:nvSpPr>
          <p:cNvPr id="16" name="Text 12"/>
          <p:cNvSpPr/>
          <p:nvPr/>
        </p:nvSpPr>
        <p:spPr>
          <a:xfrm>
            <a:off x="2834640" y="1920240"/>
            <a:ext cx="164592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Multi-College</a:t>
            </a:r>
            <a:endParaRPr lang="en-US" sz="1400" dirty="0"/>
          </a:p>
        </p:txBody>
      </p:sp>
      <p:sp>
        <p:nvSpPr>
          <p:cNvPr id="17" name="Text 13"/>
          <p:cNvSpPr/>
          <p:nvPr/>
        </p:nvSpPr>
        <p:spPr>
          <a:xfrm>
            <a:off x="2834640" y="2194560"/>
            <a:ext cx="164592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Months 6-12</a:t>
            </a:r>
            <a:endParaRPr lang="en-US" sz="1000" dirty="0"/>
          </a:p>
        </p:txBody>
      </p:sp>
      <p:sp>
        <p:nvSpPr>
          <p:cNvPr id="18" name="Text 14"/>
          <p:cNvSpPr/>
          <p:nvPr/>
        </p:nvSpPr>
        <p:spPr>
          <a:xfrm>
            <a:off x="2852928" y="2514600"/>
            <a:ext cx="1609344" cy="11887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10 colleges, 50K students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Ambassador program</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Media coverage</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Revenue: ₹5-10K/mo</a:t>
            </a:r>
            <a:endParaRPr lang="en-US" sz="1000" dirty="0"/>
          </a:p>
        </p:txBody>
      </p:sp>
      <p:sp>
        <p:nvSpPr>
          <p:cNvPr id="19" name="Shape 15"/>
          <p:cNvSpPr/>
          <p:nvPr/>
        </p:nvSpPr>
        <p:spPr>
          <a:xfrm>
            <a:off x="2834640" y="3794760"/>
            <a:ext cx="1645920" cy="274320"/>
          </a:xfrm>
          <a:prstGeom prst="rect">
            <a:avLst/>
          </a:prstGeom>
          <a:solidFill>
            <a:srgbClr val="FFF7ED"/>
          </a:solidFill>
          <a:ln/>
        </p:spPr>
      </p:sp>
      <p:sp>
        <p:nvSpPr>
          <p:cNvPr id="20" name="Text 16"/>
          <p:cNvSpPr/>
          <p:nvPr/>
        </p:nvSpPr>
        <p:spPr>
          <a:xfrm>
            <a:off x="2834640" y="3794760"/>
            <a:ext cx="1645920" cy="274320"/>
          </a:xfrm>
          <a:prstGeom prst="rect">
            <a:avLst/>
          </a:prstGeom>
          <a:noFill/>
          <a:ln/>
        </p:spPr>
        <p:txBody>
          <a:bodyPr wrap="square" lIns="0" tIns="0" rIns="0" bIns="0" rtlCol="0" anchor="ctr"/>
          <a:lstStyle/>
          <a:p>
            <a:pPr algn="ctr" indent="0" marL="0">
              <a:buNone/>
            </a:pPr>
            <a:r>
              <a:rPr lang="en-US" sz="900" b="1" dirty="0">
                <a:solidFill>
                  <a:srgbClr val="F97316"/>
                </a:solidFill>
                <a:latin typeface="Calibri" pitchFamily="34" charset="0"/>
                <a:ea typeface="Calibri" pitchFamily="34" charset="-122"/>
                <a:cs typeface="Calibri" pitchFamily="34" charset="-120"/>
              </a:rPr>
              <a:t>Viral coefficient &gt;1</a:t>
            </a:r>
            <a:endParaRPr lang="en-US" sz="900" dirty="0"/>
          </a:p>
        </p:txBody>
      </p:sp>
      <p:sp>
        <p:nvSpPr>
          <p:cNvPr id="21" name="Shape 17"/>
          <p:cNvSpPr/>
          <p:nvPr/>
        </p:nvSpPr>
        <p:spPr>
          <a:xfrm>
            <a:off x="4754880" y="1097280"/>
            <a:ext cx="1828800" cy="31089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2" name="Shape 18"/>
          <p:cNvSpPr/>
          <p:nvPr/>
        </p:nvSpPr>
        <p:spPr>
          <a:xfrm>
            <a:off x="4754880" y="1097280"/>
            <a:ext cx="1828800" cy="731520"/>
          </a:xfrm>
          <a:prstGeom prst="rect">
            <a:avLst/>
          </a:prstGeom>
          <a:solidFill>
            <a:srgbClr val="F97316"/>
          </a:solidFill>
          <a:ln/>
        </p:spPr>
      </p:sp>
      <p:pic>
        <p:nvPicPr>
          <p:cNvPr id="23" name="Image 2" descr="preencoded.png">    </p:cNvPr>
          <p:cNvPicPr>
            <a:picLocks noChangeAspect="1"/>
          </p:cNvPicPr>
          <p:nvPr/>
        </p:nvPicPr>
        <p:blipFill>
          <a:blip r:embed="rId3"/>
          <a:stretch>
            <a:fillRect/>
          </a:stretch>
        </p:blipFill>
        <p:spPr>
          <a:xfrm>
            <a:off x="5532120" y="1188720"/>
            <a:ext cx="274320" cy="274320"/>
          </a:xfrm>
          <a:prstGeom prst="rect">
            <a:avLst/>
          </a:prstGeom>
        </p:spPr>
      </p:pic>
      <p:sp>
        <p:nvSpPr>
          <p:cNvPr id="24" name="Text 19"/>
          <p:cNvSpPr/>
          <p:nvPr/>
        </p:nvSpPr>
        <p:spPr>
          <a:xfrm>
            <a:off x="4846320" y="1508760"/>
            <a:ext cx="1645920" cy="22860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PHASE 3</a:t>
            </a:r>
            <a:endParaRPr lang="en-US" sz="900" dirty="0"/>
          </a:p>
        </p:txBody>
      </p:sp>
      <p:sp>
        <p:nvSpPr>
          <p:cNvPr id="25" name="Text 20"/>
          <p:cNvSpPr/>
          <p:nvPr/>
        </p:nvSpPr>
        <p:spPr>
          <a:xfrm>
            <a:off x="4846320" y="1920240"/>
            <a:ext cx="164592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Horizontal</a:t>
            </a:r>
            <a:endParaRPr lang="en-US" sz="1400" dirty="0"/>
          </a:p>
        </p:txBody>
      </p:sp>
      <p:sp>
        <p:nvSpPr>
          <p:cNvPr id="26" name="Text 21"/>
          <p:cNvSpPr/>
          <p:nvPr/>
        </p:nvSpPr>
        <p:spPr>
          <a:xfrm>
            <a:off x="4846320" y="2194560"/>
            <a:ext cx="164592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Year 2</a:t>
            </a:r>
            <a:endParaRPr lang="en-US" sz="1000" dirty="0"/>
          </a:p>
        </p:txBody>
      </p:sp>
      <p:sp>
        <p:nvSpPr>
          <p:cNvPr id="27" name="Text 22"/>
          <p:cNvSpPr/>
          <p:nvPr/>
        </p:nvSpPr>
        <p:spPr>
          <a:xfrm>
            <a:off x="4864608" y="2514600"/>
            <a:ext cx="1609344" cy="11887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Societies, offices, townships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100K+ users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Multi-vertical</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Revenue: ₹1-5Cr ARR</a:t>
            </a:r>
            <a:endParaRPr lang="en-US" sz="1000" dirty="0"/>
          </a:p>
        </p:txBody>
      </p:sp>
      <p:sp>
        <p:nvSpPr>
          <p:cNvPr id="28" name="Shape 23"/>
          <p:cNvSpPr/>
          <p:nvPr/>
        </p:nvSpPr>
        <p:spPr>
          <a:xfrm>
            <a:off x="4846320" y="3794760"/>
            <a:ext cx="1645920" cy="274320"/>
          </a:xfrm>
          <a:prstGeom prst="rect">
            <a:avLst/>
          </a:prstGeom>
          <a:solidFill>
            <a:srgbClr val="FFF7ED"/>
          </a:solidFill>
          <a:ln/>
        </p:spPr>
      </p:sp>
      <p:sp>
        <p:nvSpPr>
          <p:cNvPr id="29" name="Text 24"/>
          <p:cNvSpPr/>
          <p:nvPr/>
        </p:nvSpPr>
        <p:spPr>
          <a:xfrm>
            <a:off x="4846320" y="3794760"/>
            <a:ext cx="1645920" cy="274320"/>
          </a:xfrm>
          <a:prstGeom prst="rect">
            <a:avLst/>
          </a:prstGeom>
          <a:noFill/>
          <a:ln/>
        </p:spPr>
        <p:txBody>
          <a:bodyPr wrap="square" lIns="0" tIns="0" rIns="0" bIns="0" rtlCol="0" anchor="ctr"/>
          <a:lstStyle/>
          <a:p>
            <a:pPr algn="ctr" indent="0" marL="0">
              <a:buNone/>
            </a:pPr>
            <a:r>
              <a:rPr lang="en-US" sz="900" b="1" dirty="0">
                <a:solidFill>
                  <a:srgbClr val="F97316"/>
                </a:solidFill>
                <a:latin typeface="Calibri" pitchFamily="34" charset="0"/>
                <a:ea typeface="Calibri" pitchFamily="34" charset="-122"/>
                <a:cs typeface="Calibri" pitchFamily="34" charset="-120"/>
              </a:rPr>
              <a:t>1,000+ communities</a:t>
            </a:r>
            <a:endParaRPr lang="en-US" sz="900" dirty="0"/>
          </a:p>
        </p:txBody>
      </p:sp>
      <p:sp>
        <p:nvSpPr>
          <p:cNvPr id="30" name="Shape 25"/>
          <p:cNvSpPr/>
          <p:nvPr/>
        </p:nvSpPr>
        <p:spPr>
          <a:xfrm>
            <a:off x="6766560" y="1097280"/>
            <a:ext cx="1828800" cy="31089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1" name="Shape 26"/>
          <p:cNvSpPr/>
          <p:nvPr/>
        </p:nvSpPr>
        <p:spPr>
          <a:xfrm>
            <a:off x="6766560" y="1097280"/>
            <a:ext cx="1828800" cy="731520"/>
          </a:xfrm>
          <a:prstGeom prst="rect">
            <a:avLst/>
          </a:prstGeom>
          <a:solidFill>
            <a:srgbClr val="F97316"/>
          </a:solidFill>
          <a:ln/>
        </p:spPr>
      </p:sp>
      <p:pic>
        <p:nvPicPr>
          <p:cNvPr id="32" name="Image 3" descr="preencoded.png">    </p:cNvPr>
          <p:cNvPicPr>
            <a:picLocks noChangeAspect="1"/>
          </p:cNvPicPr>
          <p:nvPr/>
        </p:nvPicPr>
        <p:blipFill>
          <a:blip r:embed="rId4"/>
          <a:stretch>
            <a:fillRect/>
          </a:stretch>
        </p:blipFill>
        <p:spPr>
          <a:xfrm>
            <a:off x="7543800" y="1188720"/>
            <a:ext cx="274320" cy="274320"/>
          </a:xfrm>
          <a:prstGeom prst="rect">
            <a:avLst/>
          </a:prstGeom>
        </p:spPr>
      </p:pic>
      <p:sp>
        <p:nvSpPr>
          <p:cNvPr id="33" name="Text 27"/>
          <p:cNvSpPr/>
          <p:nvPr/>
        </p:nvSpPr>
        <p:spPr>
          <a:xfrm>
            <a:off x="6858000" y="1508760"/>
            <a:ext cx="1645920" cy="22860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PHASE 4</a:t>
            </a:r>
            <a:endParaRPr lang="en-US" sz="900" dirty="0"/>
          </a:p>
        </p:txBody>
      </p:sp>
      <p:sp>
        <p:nvSpPr>
          <p:cNvPr id="34" name="Text 28"/>
          <p:cNvSpPr/>
          <p:nvPr/>
        </p:nvSpPr>
        <p:spPr>
          <a:xfrm>
            <a:off x="6858000" y="1920240"/>
            <a:ext cx="164592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Government</a:t>
            </a:r>
            <a:endParaRPr lang="en-US" sz="1400" dirty="0"/>
          </a:p>
        </p:txBody>
      </p:sp>
      <p:sp>
        <p:nvSpPr>
          <p:cNvPr id="35" name="Text 29"/>
          <p:cNvSpPr/>
          <p:nvPr/>
        </p:nvSpPr>
        <p:spPr>
          <a:xfrm>
            <a:off x="6858000" y="2194560"/>
            <a:ext cx="1645920" cy="22860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Year 3+</a:t>
            </a:r>
            <a:endParaRPr lang="en-US" sz="1000" dirty="0"/>
          </a:p>
        </p:txBody>
      </p:sp>
      <p:sp>
        <p:nvSpPr>
          <p:cNvPr id="36" name="Text 30"/>
          <p:cNvSpPr/>
          <p:nvPr/>
        </p:nvSpPr>
        <p:spPr>
          <a:xfrm>
            <a:off x="6876288" y="2514600"/>
            <a:ext cx="1609344" cy="11887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Municipal partnerships</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State-level consultation</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IndiaAI integration</a:t>
            </a:r>
            <a:endParaRPr lang="en-US" sz="1000" dirty="0"/>
          </a:p>
          <a:p>
            <a:pPr marL="342900" indent="-342900">
              <a:spcAft>
                <a:spcPts val="400"/>
              </a:spcAft>
              <a:buSzPct val="100000"/>
              <a:buChar char="•"/>
            </a:pPr>
            <a:r>
              <a:rPr lang="en-US" sz="1000" dirty="0">
                <a:solidFill>
                  <a:srgbClr val="475569"/>
                </a:solidFill>
                <a:latin typeface="Calibri" pitchFamily="34" charset="0"/>
                <a:ea typeface="Calibri" pitchFamily="34" charset="-122"/>
                <a:cs typeface="Calibri" pitchFamily="34" charset="-120"/>
              </a:rPr>
              <a:t>Revenue: ₹50-200Cr ARR</a:t>
            </a:r>
            <a:endParaRPr lang="en-US" sz="1000" dirty="0"/>
          </a:p>
        </p:txBody>
      </p:sp>
      <p:sp>
        <p:nvSpPr>
          <p:cNvPr id="37" name="Shape 31"/>
          <p:cNvSpPr/>
          <p:nvPr/>
        </p:nvSpPr>
        <p:spPr>
          <a:xfrm>
            <a:off x="6858000" y="3794760"/>
            <a:ext cx="1645920" cy="274320"/>
          </a:xfrm>
          <a:prstGeom prst="rect">
            <a:avLst/>
          </a:prstGeom>
          <a:solidFill>
            <a:srgbClr val="FFF7ED"/>
          </a:solidFill>
          <a:ln/>
        </p:spPr>
      </p:sp>
      <p:sp>
        <p:nvSpPr>
          <p:cNvPr id="38" name="Text 32"/>
          <p:cNvSpPr/>
          <p:nvPr/>
        </p:nvSpPr>
        <p:spPr>
          <a:xfrm>
            <a:off x="6858000" y="3794760"/>
            <a:ext cx="1645920" cy="274320"/>
          </a:xfrm>
          <a:prstGeom prst="rect">
            <a:avLst/>
          </a:prstGeom>
          <a:noFill/>
          <a:ln/>
        </p:spPr>
        <p:txBody>
          <a:bodyPr wrap="square" lIns="0" tIns="0" rIns="0" bIns="0" rtlCol="0" anchor="ctr"/>
          <a:lstStyle/>
          <a:p>
            <a:pPr algn="ctr" indent="0" marL="0">
              <a:buNone/>
            </a:pPr>
            <a:r>
              <a:rPr lang="en-US" sz="900" b="1" dirty="0">
                <a:solidFill>
                  <a:srgbClr val="F97316"/>
                </a:solidFill>
                <a:latin typeface="Calibri" pitchFamily="34" charset="0"/>
                <a:ea typeface="Calibri" pitchFamily="34" charset="-122"/>
                <a:cs typeface="Calibri" pitchFamily="34" charset="-120"/>
              </a:rPr>
              <a:t>10M+ users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No Direct Competition in Collective Intelligence</a:t>
            </a:r>
            <a:endParaRPr lang="en-US" sz="2200" dirty="0"/>
          </a:p>
        </p:txBody>
      </p:sp>
      <p:sp>
        <p:nvSpPr>
          <p:cNvPr id="3" name="Shape 1"/>
          <p:cNvSpPr/>
          <p:nvPr/>
        </p:nvSpPr>
        <p:spPr>
          <a:xfrm>
            <a:off x="731520" y="1143000"/>
            <a:ext cx="2514600" cy="1828800"/>
          </a:xfrm>
          <a:prstGeom prst="rect">
            <a:avLst/>
          </a:prstGeom>
          <a:solidFill>
            <a:srgbClr val="F1F5F9"/>
          </a:solidFill>
          <a:ln/>
        </p:spPr>
      </p:sp>
      <p:sp>
        <p:nvSpPr>
          <p:cNvPr id="4" name="Shape 2"/>
          <p:cNvSpPr/>
          <p:nvPr/>
        </p:nvSpPr>
        <p:spPr>
          <a:xfrm>
            <a:off x="3246120" y="1143000"/>
            <a:ext cx="2514600" cy="1828800"/>
          </a:xfrm>
          <a:prstGeom prst="rect">
            <a:avLst/>
          </a:prstGeom>
          <a:solidFill>
            <a:srgbClr val="EFF6FF"/>
          </a:solidFill>
          <a:ln/>
        </p:spPr>
      </p:sp>
      <p:sp>
        <p:nvSpPr>
          <p:cNvPr id="5" name="Shape 3"/>
          <p:cNvSpPr/>
          <p:nvPr/>
        </p:nvSpPr>
        <p:spPr>
          <a:xfrm>
            <a:off x="731520" y="2971800"/>
            <a:ext cx="2514600" cy="1828800"/>
          </a:xfrm>
          <a:prstGeom prst="rect">
            <a:avLst/>
          </a:prstGeom>
          <a:solidFill>
            <a:srgbClr val="FFFFFF"/>
          </a:solidFill>
          <a:ln/>
        </p:spPr>
      </p:sp>
      <p:sp>
        <p:nvSpPr>
          <p:cNvPr id="6" name="Shape 4"/>
          <p:cNvSpPr/>
          <p:nvPr/>
        </p:nvSpPr>
        <p:spPr>
          <a:xfrm>
            <a:off x="3246120" y="2971800"/>
            <a:ext cx="2514600" cy="1828800"/>
          </a:xfrm>
          <a:prstGeom prst="rect">
            <a:avLst/>
          </a:prstGeom>
          <a:solidFill>
            <a:srgbClr val="F1F5F9"/>
          </a:solidFill>
          <a:ln/>
        </p:spPr>
      </p:sp>
      <p:sp>
        <p:nvSpPr>
          <p:cNvPr id="7" name="Text 5"/>
          <p:cNvSpPr/>
          <p:nvPr/>
        </p:nvSpPr>
        <p:spPr>
          <a:xfrm>
            <a:off x="685800" y="1124712"/>
            <a:ext cx="1097280" cy="228600"/>
          </a:xfrm>
          <a:prstGeom prst="rect">
            <a:avLst/>
          </a:prstGeom>
          <a:noFill/>
          <a:ln/>
        </p:spPr>
        <p:txBody>
          <a:bodyPr wrap="square" lIns="0" tIns="0" rIns="0" bIns="0"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AI SYNTHESIS</a:t>
            </a:r>
            <a:endParaRPr lang="en-US" sz="800" dirty="0"/>
          </a:p>
        </p:txBody>
      </p:sp>
      <p:sp>
        <p:nvSpPr>
          <p:cNvPr id="8" name="Text 6"/>
          <p:cNvSpPr/>
          <p:nvPr/>
        </p:nvSpPr>
        <p:spPr>
          <a:xfrm>
            <a:off x="685800" y="4599432"/>
            <a:ext cx="1280160" cy="228600"/>
          </a:xfrm>
          <a:prstGeom prst="rect">
            <a:avLst/>
          </a:prstGeom>
          <a:noFill/>
          <a:ln/>
        </p:spPr>
        <p:txBody>
          <a:bodyPr wrap="square" lIns="0" tIns="0" rIns="0" bIns="0"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SIMPLE REPORTING</a:t>
            </a:r>
            <a:endParaRPr lang="en-US" sz="800" dirty="0"/>
          </a:p>
        </p:txBody>
      </p:sp>
      <p:sp>
        <p:nvSpPr>
          <p:cNvPr id="9" name="Text 7"/>
          <p:cNvSpPr/>
          <p:nvPr/>
        </p:nvSpPr>
        <p:spPr>
          <a:xfrm>
            <a:off x="731520" y="4846320"/>
            <a:ext cx="1097280" cy="182880"/>
          </a:xfrm>
          <a:prstGeom prst="rect">
            <a:avLst/>
          </a:prstGeom>
          <a:noFill/>
          <a:ln/>
        </p:spPr>
        <p:txBody>
          <a:bodyPr wrap="square" lIns="0" tIns="0" rIns="0" bIns="0"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SMALL SCALE →</a:t>
            </a:r>
            <a:endParaRPr lang="en-US" sz="800" dirty="0"/>
          </a:p>
        </p:txBody>
      </p:sp>
      <p:sp>
        <p:nvSpPr>
          <p:cNvPr id="10" name="Text 8"/>
          <p:cNvSpPr/>
          <p:nvPr/>
        </p:nvSpPr>
        <p:spPr>
          <a:xfrm>
            <a:off x="4663440" y="4846320"/>
            <a:ext cx="1097280" cy="182880"/>
          </a:xfrm>
          <a:prstGeom prst="rect">
            <a:avLst/>
          </a:prstGeom>
          <a:noFill/>
          <a:ln/>
        </p:spPr>
        <p:txBody>
          <a:bodyPr wrap="square" lIns="0" tIns="0" rIns="0" bIns="0" rtlCol="0" anchor="ctr"/>
          <a:lstStyle/>
          <a:p>
            <a:pPr algn="r" indent="0" marL="0">
              <a:buNone/>
            </a:pPr>
            <a:r>
              <a:rPr lang="en-US" sz="800" b="1" dirty="0">
                <a:solidFill>
                  <a:srgbClr val="94A3B8"/>
                </a:solidFill>
                <a:latin typeface="Calibri" pitchFamily="34" charset="0"/>
                <a:ea typeface="Calibri" pitchFamily="34" charset="-122"/>
                <a:cs typeface="Calibri" pitchFamily="34" charset="-120"/>
              </a:rPr>
              <a:t>← LARGE SCALE</a:t>
            </a:r>
            <a:endParaRPr lang="en-US" sz="800" dirty="0"/>
          </a:p>
        </p:txBody>
      </p:sp>
      <p:sp>
        <p:nvSpPr>
          <p:cNvPr id="11" name="Text 9"/>
          <p:cNvSpPr/>
          <p:nvPr/>
        </p:nvSpPr>
        <p:spPr>
          <a:xfrm>
            <a:off x="914400" y="1417320"/>
            <a:ext cx="2011680" cy="5486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Polis / vTaiwan</a:t>
            </a:r>
            <a:endParaRPr lang="en-US" sz="1100" dirty="0"/>
          </a:p>
          <a:p>
            <a:pPr indent="0" marL="0">
              <a:buNone/>
            </a:pPr>
            <a:r>
              <a:rPr lang="en-US" sz="900" dirty="0">
                <a:solidFill>
                  <a:srgbClr val="94A3B8"/>
                </a:solidFill>
                <a:latin typeface="Calibri" pitchFamily="34" charset="0"/>
                <a:ea typeface="Calibri" pitchFamily="34" charset="-122"/>
                <a:cs typeface="Calibri" pitchFamily="34" charset="-120"/>
              </a:rPr>
              <a:t>4,500 users, needs govt buy-in</a:t>
            </a:r>
            <a:endParaRPr lang="en-US" sz="1100" dirty="0"/>
          </a:p>
        </p:txBody>
      </p:sp>
      <p:sp>
        <p:nvSpPr>
          <p:cNvPr id="12" name="Text 10"/>
          <p:cNvSpPr/>
          <p:nvPr/>
        </p:nvSpPr>
        <p:spPr>
          <a:xfrm>
            <a:off x="914400" y="3429000"/>
            <a:ext cx="2011680" cy="5486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MyGate / ADDA</a:t>
            </a:r>
            <a:endParaRPr lang="en-US" sz="1100" dirty="0"/>
          </a:p>
          <a:p>
            <a:pPr indent="0" marL="0">
              <a:buNone/>
            </a:pPr>
            <a:r>
              <a:rPr lang="en-US" sz="900" dirty="0">
                <a:solidFill>
                  <a:srgbClr val="94A3B8"/>
                </a:solidFill>
                <a:latin typeface="Calibri" pitchFamily="34" charset="0"/>
                <a:ea typeface="Calibri" pitchFamily="34" charset="-122"/>
                <a:cs typeface="Calibri" pitchFamily="34" charset="-120"/>
              </a:rPr>
              <a:t>Complaint tracking, not CI</a:t>
            </a:r>
            <a:endParaRPr lang="en-US" sz="1100" dirty="0"/>
          </a:p>
        </p:txBody>
      </p:sp>
      <p:sp>
        <p:nvSpPr>
          <p:cNvPr id="13" name="Text 11"/>
          <p:cNvSpPr/>
          <p:nvPr/>
        </p:nvSpPr>
        <p:spPr>
          <a:xfrm>
            <a:off x="3520440" y="3429000"/>
            <a:ext cx="2011680" cy="5486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CPGRAMS / PuraSeva</a:t>
            </a:r>
            <a:endParaRPr lang="en-US" sz="1100" dirty="0"/>
          </a:p>
          <a:p>
            <a:pPr indent="0" marL="0">
              <a:buNone/>
            </a:pPr>
            <a:r>
              <a:rPr lang="en-US" sz="900" dirty="0">
                <a:solidFill>
                  <a:srgbClr val="94A3B8"/>
                </a:solidFill>
                <a:latin typeface="Calibri" pitchFamily="34" charset="0"/>
                <a:ea typeface="Calibri" pitchFamily="34" charset="-122"/>
                <a:cs typeface="Calibri" pitchFamily="34" charset="-120"/>
              </a:rPr>
              <a:t>Grievance logging, no synthesis</a:t>
            </a:r>
            <a:endParaRPr lang="en-US" sz="1100" dirty="0"/>
          </a:p>
        </p:txBody>
      </p:sp>
      <p:sp>
        <p:nvSpPr>
          <p:cNvPr id="14" name="Shape 12"/>
          <p:cNvSpPr/>
          <p:nvPr/>
        </p:nvSpPr>
        <p:spPr>
          <a:xfrm>
            <a:off x="3520440" y="1325880"/>
            <a:ext cx="2011680" cy="822960"/>
          </a:xfrm>
          <a:prstGeom prst="rect">
            <a:avLst/>
          </a:prstGeom>
          <a:solidFill>
            <a:srgbClr val="F97316"/>
          </a:solidFill>
          <a:ln/>
        </p:spPr>
      </p:sp>
      <p:sp>
        <p:nvSpPr>
          <p:cNvPr id="15" name="Text 13"/>
          <p:cNvSpPr/>
          <p:nvPr/>
        </p:nvSpPr>
        <p:spPr>
          <a:xfrm>
            <a:off x="3611880" y="1399032"/>
            <a:ext cx="18288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SUSHAASAN</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Millions of users, continuous CI</a:t>
            </a:r>
            <a:endParaRPr lang="en-US" sz="1400" dirty="0"/>
          </a:p>
        </p:txBody>
      </p:sp>
      <p:sp>
        <p:nvSpPr>
          <p:cNvPr id="16" name="Shape 14"/>
          <p:cNvSpPr/>
          <p:nvPr/>
        </p:nvSpPr>
        <p:spPr>
          <a:xfrm>
            <a:off x="6217920" y="1143000"/>
            <a:ext cx="2468880" cy="3657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7" name="Text 15"/>
          <p:cNvSpPr/>
          <p:nvPr/>
        </p:nvSpPr>
        <p:spPr>
          <a:xfrm>
            <a:off x="6355080" y="1280160"/>
            <a:ext cx="2194560" cy="274320"/>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WHY WE WIN</a:t>
            </a:r>
            <a:endParaRPr lang="en-US" sz="1100" dirty="0"/>
          </a:p>
        </p:txBody>
      </p:sp>
      <p:sp>
        <p:nvSpPr>
          <p:cNvPr id="18" name="Text 16"/>
          <p:cNvSpPr/>
          <p:nvPr/>
        </p:nvSpPr>
        <p:spPr>
          <a:xfrm>
            <a:off x="6355080" y="1645920"/>
            <a:ext cx="2194560" cy="2926080"/>
          </a:xfrm>
          <a:prstGeom prst="rect">
            <a:avLst/>
          </a:prstGeom>
          <a:noFill/>
          <a:ln/>
        </p:spPr>
        <p:txBody>
          <a:bodyPr wrap="square" lIns="0" tIns="0" rIns="0" bIns="0" rtlCol="0" anchor="t"/>
          <a:lstStyle/>
          <a:p>
            <a:pPr marL="342900" indent="-342900">
              <a:spcAft>
                <a:spcPts val="1000"/>
              </a:spcAft>
              <a:buSzPct val="100000"/>
              <a:buChar char="•"/>
            </a:pPr>
            <a:r>
              <a:rPr lang="en-US" sz="1050" dirty="0">
                <a:solidFill>
                  <a:srgbClr val="475569"/>
                </a:solidFill>
                <a:latin typeface="Calibri" pitchFamily="34" charset="0"/>
                <a:ea typeface="Calibri" pitchFamily="34" charset="-122"/>
                <a:cs typeface="Calibri" pitchFamily="34" charset="-120"/>
              </a:rPr>
              <a:t>Platform network effects — more users = better AI</a:t>
            </a:r>
            <a:endParaRPr lang="en-US" sz="1050" dirty="0"/>
          </a:p>
          <a:p>
            <a:pPr marL="342900" indent="-342900">
              <a:spcAft>
                <a:spcPts val="1000"/>
              </a:spcAft>
              <a:buSzPct val="100000"/>
              <a:buChar char="•"/>
            </a:pPr>
            <a:r>
              <a:rPr lang="en-US" sz="1050" dirty="0">
                <a:solidFill>
                  <a:srgbClr val="475569"/>
                </a:solidFill>
                <a:latin typeface="Calibri" pitchFamily="34" charset="0"/>
                <a:ea typeface="Calibri" pitchFamily="34" charset="-122"/>
                <a:cs typeface="Calibri" pitchFamily="34" charset="-120"/>
              </a:rPr>
              <a:t>Bottom-up adoption — no govt approval needed to start</a:t>
            </a:r>
            <a:endParaRPr lang="en-US" sz="1050" dirty="0"/>
          </a:p>
          <a:p>
            <a:pPr marL="342900" indent="-342900">
              <a:spcAft>
                <a:spcPts val="1000"/>
              </a:spcAft>
              <a:buSzPct val="100000"/>
              <a:buChar char="•"/>
            </a:pPr>
            <a:r>
              <a:rPr lang="en-US" sz="1050" dirty="0">
                <a:solidFill>
                  <a:srgbClr val="475569"/>
                </a:solidFill>
                <a:latin typeface="Calibri" pitchFamily="34" charset="0"/>
                <a:ea typeface="Calibri" pitchFamily="34" charset="-122"/>
                <a:cs typeface="Calibri" pitchFamily="34" charset="-120"/>
              </a:rPr>
              <a:t>First-mover in India's collective intelligence space</a:t>
            </a:r>
            <a:endParaRPr lang="en-US" sz="1050" dirty="0"/>
          </a:p>
          <a:p>
            <a:pPr marL="342900" indent="-342900">
              <a:spcAft>
                <a:spcPts val="1000"/>
              </a:spcAft>
              <a:buSzPct val="100000"/>
              <a:buChar char="•"/>
            </a:pPr>
            <a:r>
              <a:rPr lang="en-US" sz="1050" dirty="0">
                <a:solidFill>
                  <a:srgbClr val="475569"/>
                </a:solidFill>
                <a:latin typeface="Calibri" pitchFamily="34" charset="0"/>
                <a:ea typeface="Calibri" pitchFamily="34" charset="-122"/>
                <a:cs typeface="Calibri" pitchFamily="34" charset="-120"/>
              </a:rPr>
              <a:t>Perfect timing — IndiaAI Mission, 700M online, Gen Z</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2800" b="1" dirty="0">
                <a:solidFill>
                  <a:srgbClr val="1E293B"/>
                </a:solidFill>
                <a:latin typeface="Trebuchet MS" pitchFamily="34" charset="0"/>
                <a:ea typeface="Trebuchet MS" pitchFamily="34" charset="-122"/>
                <a:cs typeface="Trebuchet MS" pitchFamily="34" charset="-120"/>
              </a:rPr>
              <a:t>Traction &amp; Strategic Positioning</a:t>
            </a:r>
            <a:endParaRPr lang="en-US" sz="2800" dirty="0"/>
          </a:p>
        </p:txBody>
      </p:sp>
      <p:sp>
        <p:nvSpPr>
          <p:cNvPr id="3" name="Shape 1"/>
          <p:cNvSpPr/>
          <p:nvPr/>
        </p:nvSpPr>
        <p:spPr>
          <a:xfrm>
            <a:off x="731520" y="109728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868680" y="1280160"/>
            <a:ext cx="274320" cy="274320"/>
          </a:xfrm>
          <a:prstGeom prst="rect">
            <a:avLst/>
          </a:prstGeom>
        </p:spPr>
      </p:pic>
      <p:sp>
        <p:nvSpPr>
          <p:cNvPr id="5" name="Text 2"/>
          <p:cNvSpPr/>
          <p:nvPr/>
        </p:nvSpPr>
        <p:spPr>
          <a:xfrm>
            <a:off x="1234440" y="123444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DPIIT Recognition</a:t>
            </a:r>
            <a:endParaRPr lang="en-US" sz="1300" dirty="0"/>
          </a:p>
        </p:txBody>
      </p:sp>
      <p:sp>
        <p:nvSpPr>
          <p:cNvPr id="6" name="Text 3"/>
          <p:cNvSpPr/>
          <p:nvPr/>
        </p:nvSpPr>
        <p:spPr>
          <a:xfrm>
            <a:off x="1234440" y="160020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Startup India BHASKAR ID</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Eligible for government schemes</a:t>
            </a:r>
            <a:endParaRPr lang="en-US" sz="1100" dirty="0"/>
          </a:p>
        </p:txBody>
      </p:sp>
      <p:sp>
        <p:nvSpPr>
          <p:cNvPr id="7" name="Shape 4"/>
          <p:cNvSpPr/>
          <p:nvPr/>
        </p:nvSpPr>
        <p:spPr>
          <a:xfrm>
            <a:off x="3291840" y="109728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3429000" y="1280160"/>
            <a:ext cx="274320" cy="274320"/>
          </a:xfrm>
          <a:prstGeom prst="rect">
            <a:avLst/>
          </a:prstGeom>
        </p:spPr>
      </p:pic>
      <p:sp>
        <p:nvSpPr>
          <p:cNvPr id="9" name="Text 5"/>
          <p:cNvSpPr/>
          <p:nvPr/>
        </p:nvSpPr>
        <p:spPr>
          <a:xfrm>
            <a:off x="3794760" y="123444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Research Foundation</a:t>
            </a:r>
            <a:endParaRPr lang="en-US" sz="1300" dirty="0"/>
          </a:p>
        </p:txBody>
      </p:sp>
      <p:sp>
        <p:nvSpPr>
          <p:cNvPr id="10" name="Text 6"/>
          <p:cNvSpPr/>
          <p:nvPr/>
        </p:nvSpPr>
        <p:spPr>
          <a:xfrm>
            <a:off x="3794760" y="160020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13+ comprehensive documents</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CPGRAMS &amp; Sarvam AI analysis</a:t>
            </a:r>
            <a:endParaRPr lang="en-US" sz="1100" dirty="0"/>
          </a:p>
        </p:txBody>
      </p:sp>
      <p:sp>
        <p:nvSpPr>
          <p:cNvPr id="11" name="Shape 7"/>
          <p:cNvSpPr/>
          <p:nvPr/>
        </p:nvSpPr>
        <p:spPr>
          <a:xfrm>
            <a:off x="5852160" y="109728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5989320" y="1280160"/>
            <a:ext cx="274320" cy="274320"/>
          </a:xfrm>
          <a:prstGeom prst="rect">
            <a:avLst/>
          </a:prstGeom>
        </p:spPr>
      </p:pic>
      <p:sp>
        <p:nvSpPr>
          <p:cNvPr id="13" name="Text 8"/>
          <p:cNvSpPr/>
          <p:nvPr/>
        </p:nvSpPr>
        <p:spPr>
          <a:xfrm>
            <a:off x="6355080" y="123444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Political Interest</a:t>
            </a:r>
            <a:endParaRPr lang="en-US" sz="1300" dirty="0"/>
          </a:p>
        </p:txBody>
      </p:sp>
      <p:sp>
        <p:nvSpPr>
          <p:cNvPr id="14" name="Text 9"/>
          <p:cNvSpPr/>
          <p:nvPr/>
        </p:nvSpPr>
        <p:spPr>
          <a:xfrm>
            <a:off x="6355080" y="160020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Outreach to Raghav Chadha MP</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"Reddit-to-Parliament" alignment</a:t>
            </a:r>
            <a:endParaRPr lang="en-US" sz="1100" dirty="0"/>
          </a:p>
        </p:txBody>
      </p:sp>
      <p:sp>
        <p:nvSpPr>
          <p:cNvPr id="15" name="Shape 10"/>
          <p:cNvSpPr/>
          <p:nvPr/>
        </p:nvSpPr>
        <p:spPr>
          <a:xfrm>
            <a:off x="731520" y="278892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868680" y="2971800"/>
            <a:ext cx="274320" cy="274320"/>
          </a:xfrm>
          <a:prstGeom prst="rect">
            <a:avLst/>
          </a:prstGeom>
        </p:spPr>
      </p:pic>
      <p:sp>
        <p:nvSpPr>
          <p:cNvPr id="17" name="Text 11"/>
          <p:cNvSpPr/>
          <p:nvPr/>
        </p:nvSpPr>
        <p:spPr>
          <a:xfrm>
            <a:off x="1234440" y="292608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Institutional Pipeline</a:t>
            </a:r>
            <a:endParaRPr lang="en-US" sz="1300" dirty="0"/>
          </a:p>
        </p:txBody>
      </p:sp>
      <p:sp>
        <p:nvSpPr>
          <p:cNvPr id="18" name="Text 12"/>
          <p:cNvSpPr/>
          <p:nvPr/>
        </p:nvSpPr>
        <p:spPr>
          <a:xfrm>
            <a:off x="1234440" y="329184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IIT Kanpur SIIC (in process)</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COEP incubation (applying)</a:t>
            </a:r>
            <a:endParaRPr lang="en-US" sz="1100" dirty="0"/>
          </a:p>
        </p:txBody>
      </p:sp>
      <p:sp>
        <p:nvSpPr>
          <p:cNvPr id="19" name="Shape 13"/>
          <p:cNvSpPr/>
          <p:nvPr/>
        </p:nvSpPr>
        <p:spPr>
          <a:xfrm>
            <a:off x="3291840" y="278892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20" name="Image 4" descr="preencoded.png">    </p:cNvPr>
          <p:cNvPicPr>
            <a:picLocks noChangeAspect="1"/>
          </p:cNvPicPr>
          <p:nvPr/>
        </p:nvPicPr>
        <p:blipFill>
          <a:blip r:embed="rId5"/>
          <a:stretch>
            <a:fillRect/>
          </a:stretch>
        </p:blipFill>
        <p:spPr>
          <a:xfrm>
            <a:off x="3429000" y="2971800"/>
            <a:ext cx="274320" cy="274320"/>
          </a:xfrm>
          <a:prstGeom prst="rect">
            <a:avLst/>
          </a:prstGeom>
        </p:spPr>
      </p:pic>
      <p:sp>
        <p:nvSpPr>
          <p:cNvPr id="21" name="Text 14"/>
          <p:cNvSpPr/>
          <p:nvPr/>
        </p:nvSpPr>
        <p:spPr>
          <a:xfrm>
            <a:off x="3794760" y="292608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Technical Vision</a:t>
            </a:r>
            <a:endParaRPr lang="en-US" sz="1300" dirty="0"/>
          </a:p>
        </p:txBody>
      </p:sp>
      <p:sp>
        <p:nvSpPr>
          <p:cNvPr id="22" name="Text 15"/>
          <p:cNvSpPr/>
          <p:nvPr/>
        </p:nvSpPr>
        <p:spPr>
          <a:xfrm>
            <a:off x="3794760" y="329184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Sovereign AI architecture designed</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22 languages via Bhashini</a:t>
            </a:r>
            <a:endParaRPr lang="en-US" sz="1100" dirty="0"/>
          </a:p>
        </p:txBody>
      </p:sp>
      <p:sp>
        <p:nvSpPr>
          <p:cNvPr id="23" name="Shape 16"/>
          <p:cNvSpPr/>
          <p:nvPr/>
        </p:nvSpPr>
        <p:spPr>
          <a:xfrm>
            <a:off x="5852160" y="2788920"/>
            <a:ext cx="2377440" cy="15087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24" name="Image 5" descr="preencoded.png">    </p:cNvPr>
          <p:cNvPicPr>
            <a:picLocks noChangeAspect="1"/>
          </p:cNvPicPr>
          <p:nvPr/>
        </p:nvPicPr>
        <p:blipFill>
          <a:blip r:embed="rId6"/>
          <a:stretch>
            <a:fillRect/>
          </a:stretch>
        </p:blipFill>
        <p:spPr>
          <a:xfrm>
            <a:off x="5989320" y="2971800"/>
            <a:ext cx="274320" cy="274320"/>
          </a:xfrm>
          <a:prstGeom prst="rect">
            <a:avLst/>
          </a:prstGeom>
        </p:spPr>
      </p:pic>
      <p:sp>
        <p:nvSpPr>
          <p:cNvPr id="25" name="Text 17"/>
          <p:cNvSpPr/>
          <p:nvPr/>
        </p:nvSpPr>
        <p:spPr>
          <a:xfrm>
            <a:off x="6355080" y="2926080"/>
            <a:ext cx="17373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Launch Readiness</a:t>
            </a:r>
            <a:endParaRPr lang="en-US" sz="1300" dirty="0"/>
          </a:p>
        </p:txBody>
      </p:sp>
      <p:sp>
        <p:nvSpPr>
          <p:cNvPr id="26" name="Text 18"/>
          <p:cNvSpPr/>
          <p:nvPr/>
        </p:nvSpPr>
        <p:spPr>
          <a:xfrm>
            <a:off x="6355080" y="3291840"/>
            <a:ext cx="1737360" cy="822960"/>
          </a:xfrm>
          <a:prstGeom prst="rect">
            <a:avLst/>
          </a:prstGeom>
          <a:noFill/>
          <a:ln/>
        </p:spPr>
        <p:txBody>
          <a:bodyPr wrap="square" lIns="0" tIns="0" rIns="0" bIns="0" rtlCol="0" anchor="t"/>
          <a:lstStyle/>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College launch in 3 months</a:t>
            </a:r>
            <a:endParaRPr lang="en-US" sz="1100" dirty="0"/>
          </a:p>
          <a:p>
            <a:pPr indent="0" marL="0">
              <a:lnSpc>
                <a:spcPct val="130000"/>
              </a:lnSpc>
              <a:buNone/>
            </a:pPr>
            <a:r>
              <a:rPr lang="en-US" sz="1100" dirty="0">
                <a:solidFill>
                  <a:srgbClr val="475569"/>
                </a:solidFill>
                <a:latin typeface="Calibri" pitchFamily="34" charset="0"/>
                <a:ea typeface="Calibri" pitchFamily="34" charset="-122"/>
                <a:cs typeface="Calibri" pitchFamily="34" charset="-120"/>
              </a:rPr>
              <a:t>50 early adopters identified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2800" b="1" dirty="0">
                <a:solidFill>
                  <a:srgbClr val="1E293B"/>
                </a:solidFill>
                <a:latin typeface="Trebuchet MS" pitchFamily="34" charset="0"/>
                <a:ea typeface="Trebuchet MS" pitchFamily="34" charset="-122"/>
                <a:cs typeface="Trebuchet MS" pitchFamily="34" charset="-120"/>
              </a:rPr>
              <a:t>Business Model &amp; Unit Economics</a:t>
            </a:r>
            <a:endParaRPr lang="en-US" sz="2800" dirty="0"/>
          </a:p>
        </p:txBody>
      </p:sp>
      <p:sp>
        <p:nvSpPr>
          <p:cNvPr id="3" name="Shape 1"/>
          <p:cNvSpPr/>
          <p:nvPr/>
        </p:nvSpPr>
        <p:spPr>
          <a:xfrm>
            <a:off x="731520" y="1097280"/>
            <a:ext cx="2377440" cy="2103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Text 2"/>
          <p:cNvSpPr/>
          <p:nvPr/>
        </p:nvSpPr>
        <p:spPr>
          <a:xfrm>
            <a:off x="914400" y="1234440"/>
            <a:ext cx="2011680" cy="228600"/>
          </a:xfrm>
          <a:prstGeom prst="rect">
            <a:avLst/>
          </a:prstGeom>
          <a:noFill/>
          <a:ln/>
        </p:spPr>
        <p:txBody>
          <a:bodyPr wrap="square" lIns="0" tIns="0" rIns="0" bIns="0" rtlCol="0" anchor="ctr"/>
          <a:lstStyle/>
          <a:p>
            <a:pPr indent="0" marL="0">
              <a:buNone/>
            </a:pPr>
            <a:r>
              <a:rPr lang="en-US" sz="1100" b="1" spc="100" kern="0" dirty="0">
                <a:solidFill>
                  <a:srgbClr val="94A3B8"/>
                </a:solidFill>
                <a:latin typeface="Calibri" pitchFamily="34" charset="0"/>
                <a:ea typeface="Calibri" pitchFamily="34" charset="-122"/>
                <a:cs typeface="Calibri" pitchFamily="34" charset="-120"/>
              </a:rPr>
              <a:t>Year 1</a:t>
            </a:r>
            <a:endParaRPr lang="en-US" sz="1100" dirty="0"/>
          </a:p>
        </p:txBody>
      </p:sp>
      <p:sp>
        <p:nvSpPr>
          <p:cNvPr id="5" name="Text 3"/>
          <p:cNvSpPr/>
          <p:nvPr/>
        </p:nvSpPr>
        <p:spPr>
          <a:xfrm>
            <a:off x="914400" y="1463040"/>
            <a:ext cx="2011680" cy="411480"/>
          </a:xfrm>
          <a:prstGeom prst="rect">
            <a:avLst/>
          </a:prstGeom>
          <a:noFill/>
          <a:ln/>
        </p:spPr>
        <p:txBody>
          <a:bodyPr wrap="square" lIns="0" tIns="0" rIns="0" bIns="0" rtlCol="0" anchor="ctr"/>
          <a:lstStyle/>
          <a:p>
            <a:pPr indent="0" marL="0">
              <a:buNone/>
            </a:pPr>
            <a:r>
              <a:rPr lang="en-US" sz="2000" b="1" dirty="0">
                <a:solidFill>
                  <a:srgbClr val="475569"/>
                </a:solidFill>
                <a:latin typeface="Trebuchet MS" pitchFamily="34" charset="0"/>
                <a:ea typeface="Trebuchet MS" pitchFamily="34" charset="-122"/>
                <a:cs typeface="Trebuchet MS" pitchFamily="34" charset="-120"/>
              </a:rPr>
              <a:t>₹0</a:t>
            </a:r>
            <a:endParaRPr lang="en-US" sz="2000" dirty="0"/>
          </a:p>
        </p:txBody>
      </p:sp>
      <p:sp>
        <p:nvSpPr>
          <p:cNvPr id="6" name="Text 4"/>
          <p:cNvSpPr/>
          <p:nvPr/>
        </p:nvSpPr>
        <p:spPr>
          <a:xfrm>
            <a:off x="914400" y="1920240"/>
            <a:ext cx="2011680" cy="1005840"/>
          </a:xfrm>
          <a:prstGeom prst="rect">
            <a:avLst/>
          </a:prstGeom>
          <a:noFill/>
          <a:ln/>
        </p:spPr>
        <p:txBody>
          <a:bodyPr wrap="square" lIns="0" tIns="0" rIns="0" bIns="0" rtlCol="0" anchor="ctr"/>
          <a:lstStyle/>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Free for all</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User adoption + viral growth</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1,000+ college students</a:t>
            </a:r>
            <a:endParaRPr lang="en-US" sz="1100" dirty="0"/>
          </a:p>
        </p:txBody>
      </p:sp>
      <p:sp>
        <p:nvSpPr>
          <p:cNvPr id="7" name="Shape 5"/>
          <p:cNvSpPr/>
          <p:nvPr/>
        </p:nvSpPr>
        <p:spPr>
          <a:xfrm>
            <a:off x="3337560" y="1097280"/>
            <a:ext cx="2377440" cy="2103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8" name="Text 6"/>
          <p:cNvSpPr/>
          <p:nvPr/>
        </p:nvSpPr>
        <p:spPr>
          <a:xfrm>
            <a:off x="3520440" y="1234440"/>
            <a:ext cx="2011680" cy="228600"/>
          </a:xfrm>
          <a:prstGeom prst="rect">
            <a:avLst/>
          </a:prstGeom>
          <a:noFill/>
          <a:ln/>
        </p:spPr>
        <p:txBody>
          <a:bodyPr wrap="square" lIns="0" tIns="0" rIns="0" bIns="0" rtlCol="0" anchor="ctr"/>
          <a:lstStyle/>
          <a:p>
            <a:pPr indent="0" marL="0">
              <a:buNone/>
            </a:pPr>
            <a:r>
              <a:rPr lang="en-US" sz="1100" b="1" spc="100" kern="0" dirty="0">
                <a:solidFill>
                  <a:srgbClr val="94A3B8"/>
                </a:solidFill>
                <a:latin typeface="Calibri" pitchFamily="34" charset="0"/>
                <a:ea typeface="Calibri" pitchFamily="34" charset="-122"/>
                <a:cs typeface="Calibri" pitchFamily="34" charset="-120"/>
              </a:rPr>
              <a:t>Year 2</a:t>
            </a:r>
            <a:endParaRPr lang="en-US" sz="1100" dirty="0"/>
          </a:p>
        </p:txBody>
      </p:sp>
      <p:sp>
        <p:nvSpPr>
          <p:cNvPr id="9" name="Text 7"/>
          <p:cNvSpPr/>
          <p:nvPr/>
        </p:nvSpPr>
        <p:spPr>
          <a:xfrm>
            <a:off x="3520440" y="1463040"/>
            <a:ext cx="2011680" cy="411480"/>
          </a:xfrm>
          <a:prstGeom prst="rect">
            <a:avLst/>
          </a:prstGeom>
          <a:noFill/>
          <a:ln/>
        </p:spPr>
        <p:txBody>
          <a:bodyPr wrap="square" lIns="0" tIns="0" rIns="0" bIns="0" rtlCol="0" anchor="ctr"/>
          <a:lstStyle/>
          <a:p>
            <a:pPr indent="0" marL="0">
              <a:buNone/>
            </a:pPr>
            <a:r>
              <a:rPr lang="en-US" sz="2000" b="1" dirty="0">
                <a:solidFill>
                  <a:srgbClr val="F97316"/>
                </a:solidFill>
                <a:latin typeface="Trebuchet MS" pitchFamily="34" charset="0"/>
                <a:ea typeface="Trebuchet MS" pitchFamily="34" charset="-122"/>
                <a:cs typeface="Trebuchet MS" pitchFamily="34" charset="-120"/>
              </a:rPr>
              <a:t>₹1-5Cr ARR</a:t>
            </a:r>
            <a:endParaRPr lang="en-US" sz="2000" dirty="0"/>
          </a:p>
        </p:txBody>
      </p:sp>
      <p:sp>
        <p:nvSpPr>
          <p:cNvPr id="10" name="Text 8"/>
          <p:cNvSpPr/>
          <p:nvPr/>
        </p:nvSpPr>
        <p:spPr>
          <a:xfrm>
            <a:off x="3520440" y="1920240"/>
            <a:ext cx="2011680" cy="1005840"/>
          </a:xfrm>
          <a:prstGeom prst="rect">
            <a:avLst/>
          </a:prstGeom>
          <a:noFill/>
          <a:ln/>
        </p:spPr>
        <p:txBody>
          <a:bodyPr wrap="square" lIns="0" tIns="0" rIns="0" bIns="0" rtlCol="0" anchor="ctr"/>
          <a:lstStyle/>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Freemium + Enterprise</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Offices: ₹10-50K/mo</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Student councils: ₹5-10K/mo</a:t>
            </a:r>
            <a:endParaRPr lang="en-US" sz="1100" dirty="0"/>
          </a:p>
        </p:txBody>
      </p:sp>
      <p:sp>
        <p:nvSpPr>
          <p:cNvPr id="11" name="Shape 9"/>
          <p:cNvSpPr/>
          <p:nvPr/>
        </p:nvSpPr>
        <p:spPr>
          <a:xfrm>
            <a:off x="5943600" y="1097280"/>
            <a:ext cx="2377440" cy="2103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Text 10"/>
          <p:cNvSpPr/>
          <p:nvPr/>
        </p:nvSpPr>
        <p:spPr>
          <a:xfrm>
            <a:off x="6126480" y="1234440"/>
            <a:ext cx="2011680" cy="228600"/>
          </a:xfrm>
          <a:prstGeom prst="rect">
            <a:avLst/>
          </a:prstGeom>
          <a:noFill/>
          <a:ln/>
        </p:spPr>
        <p:txBody>
          <a:bodyPr wrap="square" lIns="0" tIns="0" rIns="0" bIns="0" rtlCol="0" anchor="ctr"/>
          <a:lstStyle/>
          <a:p>
            <a:pPr indent="0" marL="0">
              <a:buNone/>
            </a:pPr>
            <a:r>
              <a:rPr lang="en-US" sz="1100" b="1" spc="100" kern="0" dirty="0">
                <a:solidFill>
                  <a:srgbClr val="94A3B8"/>
                </a:solidFill>
                <a:latin typeface="Calibri" pitchFamily="34" charset="0"/>
                <a:ea typeface="Calibri" pitchFamily="34" charset="-122"/>
                <a:cs typeface="Calibri" pitchFamily="34" charset="-120"/>
              </a:rPr>
              <a:t>Year 3-5</a:t>
            </a:r>
            <a:endParaRPr lang="en-US" sz="1100" dirty="0"/>
          </a:p>
        </p:txBody>
      </p:sp>
      <p:sp>
        <p:nvSpPr>
          <p:cNvPr id="13" name="Text 11"/>
          <p:cNvSpPr/>
          <p:nvPr/>
        </p:nvSpPr>
        <p:spPr>
          <a:xfrm>
            <a:off x="6126480" y="1463040"/>
            <a:ext cx="2011680" cy="411480"/>
          </a:xfrm>
          <a:prstGeom prst="rect">
            <a:avLst/>
          </a:prstGeom>
          <a:noFill/>
          <a:ln/>
        </p:spPr>
        <p:txBody>
          <a:bodyPr wrap="square" lIns="0" tIns="0" rIns="0" bIns="0" rtlCol="0" anchor="ctr"/>
          <a:lstStyle/>
          <a:p>
            <a:pPr indent="0" marL="0">
              <a:buNone/>
            </a:pPr>
            <a:r>
              <a:rPr lang="en-US" sz="2000" b="1" dirty="0">
                <a:solidFill>
                  <a:srgbClr val="1E3A8A"/>
                </a:solidFill>
                <a:latin typeface="Trebuchet MS" pitchFamily="34" charset="0"/>
                <a:ea typeface="Trebuchet MS" pitchFamily="34" charset="-122"/>
                <a:cs typeface="Trebuchet MS" pitchFamily="34" charset="-120"/>
              </a:rPr>
              <a:t>₹50-200Cr ARR</a:t>
            </a:r>
            <a:endParaRPr lang="en-US" sz="2000" dirty="0"/>
          </a:p>
        </p:txBody>
      </p:sp>
      <p:sp>
        <p:nvSpPr>
          <p:cNvPr id="14" name="Text 12"/>
          <p:cNvSpPr/>
          <p:nvPr/>
        </p:nvSpPr>
        <p:spPr>
          <a:xfrm>
            <a:off x="6126480" y="1920240"/>
            <a:ext cx="2011680" cy="1005840"/>
          </a:xfrm>
          <a:prstGeom prst="rect">
            <a:avLst/>
          </a:prstGeom>
          <a:noFill/>
          <a:ln/>
        </p:spPr>
        <p:txBody>
          <a:bodyPr wrap="square" lIns="0" tIns="0" rIns="0" bIns="0" rtlCol="0" anchor="ctr"/>
          <a:lstStyle/>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Govt contracts: ₹1-10Cr/city</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1,000+ organizations</a:t>
            </a:r>
            <a:endParaRPr lang="en-US" sz="1100" dirty="0"/>
          </a:p>
          <a:p>
            <a:pPr indent="0" marL="0">
              <a:lnSpc>
                <a:spcPct val="140000"/>
              </a:lnSpc>
              <a:buNone/>
            </a:pPr>
            <a:r>
              <a:rPr lang="en-US" sz="1100" dirty="0">
                <a:solidFill>
                  <a:srgbClr val="475569"/>
                </a:solidFill>
                <a:latin typeface="Calibri" pitchFamily="34" charset="0"/>
                <a:ea typeface="Calibri" pitchFamily="34" charset="-122"/>
                <a:cs typeface="Calibri" pitchFamily="34" charset="-120"/>
              </a:rPr>
              <a:t>Platform free for citizens</a:t>
            </a:r>
            <a:endParaRPr lang="en-US" sz="1100" dirty="0"/>
          </a:p>
        </p:txBody>
      </p:sp>
      <p:sp>
        <p:nvSpPr>
          <p:cNvPr id="15" name="Shape 13"/>
          <p:cNvSpPr/>
          <p:nvPr/>
        </p:nvSpPr>
        <p:spPr>
          <a:xfrm>
            <a:off x="731520" y="3520440"/>
            <a:ext cx="7680960" cy="1280160"/>
          </a:xfrm>
          <a:prstGeom prst="rect">
            <a:avLst/>
          </a:prstGeom>
          <a:solidFill>
            <a:srgbClr val="1E3A8A"/>
          </a:solidFill>
          <a:ln/>
        </p:spPr>
      </p:sp>
      <p:sp>
        <p:nvSpPr>
          <p:cNvPr id="16" name="Text 14"/>
          <p:cNvSpPr/>
          <p:nvPr/>
        </p:nvSpPr>
        <p:spPr>
          <a:xfrm>
            <a:off x="914400" y="3611880"/>
            <a:ext cx="7315200" cy="274320"/>
          </a:xfrm>
          <a:prstGeom prst="rect">
            <a:avLst/>
          </a:prstGeom>
          <a:noFill/>
          <a:ln/>
        </p:spPr>
        <p:txBody>
          <a:bodyPr wrap="square" lIns="0" tIns="0" rIns="0" bIns="0" rtlCol="0" anchor="ctr"/>
          <a:lstStyle/>
          <a:p>
            <a:pPr indent="0" marL="0">
              <a:buNone/>
            </a:pPr>
            <a:r>
              <a:rPr lang="en-US" sz="1000" b="1" spc="200" kern="0" dirty="0">
                <a:solidFill>
                  <a:srgbClr val="F97316"/>
                </a:solidFill>
                <a:latin typeface="Calibri" pitchFamily="34" charset="0"/>
                <a:ea typeface="Calibri" pitchFamily="34" charset="-122"/>
                <a:cs typeface="Calibri" pitchFamily="34" charset="-120"/>
              </a:rPr>
              <a:t>UNIT ECONOMICS AT SCALE (YEAR 3)</a:t>
            </a:r>
            <a:endParaRPr lang="en-US" sz="1000" dirty="0"/>
          </a:p>
        </p:txBody>
      </p:sp>
      <p:sp>
        <p:nvSpPr>
          <p:cNvPr id="17" name="Text 15"/>
          <p:cNvSpPr/>
          <p:nvPr/>
        </p:nvSpPr>
        <p:spPr>
          <a:xfrm>
            <a:off x="914400" y="3931920"/>
            <a:ext cx="3474720"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Government Contracts</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Cost: ₹50L/year per city  •  Revenue: ₹3Cr/year</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30 cities = ₹90Cr revenue  •  Gross margin: 85%</a:t>
            </a:r>
            <a:endParaRPr lang="en-US" sz="1200" dirty="0"/>
          </a:p>
        </p:txBody>
      </p:sp>
      <p:sp>
        <p:nvSpPr>
          <p:cNvPr id="18" name="Text 16"/>
          <p:cNvSpPr/>
          <p:nvPr/>
        </p:nvSpPr>
        <p:spPr>
          <a:xfrm>
            <a:off x="4754880" y="3931920"/>
            <a:ext cx="3474720"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Enterprise Tier</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Cost: ₹20K/year per org  •  Revenue: ₹1.2L/year</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5,000 orgs = ₹60Cr ARR  •  Near-zero marginal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Trebuchet MS" pitchFamily="34" charset="0"/>
                <a:ea typeface="Trebuchet MS" pitchFamily="34" charset="-122"/>
                <a:cs typeface="Trebuchet MS" pitchFamily="34" charset="-120"/>
              </a:rPr>
              <a:t>Mission-Driven Founders</a:t>
            </a:r>
            <a:endParaRPr lang="en-US" sz="3200" dirty="0"/>
          </a:p>
        </p:txBody>
      </p:sp>
      <p:sp>
        <p:nvSpPr>
          <p:cNvPr id="3" name="Shape 1"/>
          <p:cNvSpPr/>
          <p:nvPr/>
        </p:nvSpPr>
        <p:spPr>
          <a:xfrm>
            <a:off x="731520" y="1097280"/>
            <a:ext cx="3657600" cy="22860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731520" y="1097280"/>
            <a:ext cx="3657600" cy="54864"/>
          </a:xfrm>
          <a:prstGeom prst="rect">
            <a:avLst/>
          </a:prstGeom>
          <a:solidFill>
            <a:srgbClr val="F97316"/>
          </a:solidFill>
          <a:ln/>
        </p:spPr>
      </p:sp>
      <p:sp>
        <p:nvSpPr>
          <p:cNvPr id="5" name="Text 3"/>
          <p:cNvSpPr/>
          <p:nvPr/>
        </p:nvSpPr>
        <p:spPr>
          <a:xfrm>
            <a:off x="914400" y="1325880"/>
            <a:ext cx="3291840" cy="365760"/>
          </a:xfrm>
          <a:prstGeom prst="rect">
            <a:avLst/>
          </a:prstGeom>
          <a:noFill/>
          <a:ln/>
        </p:spPr>
        <p:txBody>
          <a:bodyPr wrap="square" lIns="0" tIns="0" rIns="0" bIns="0" rtlCol="0" anchor="ctr"/>
          <a:lstStyle/>
          <a:p>
            <a:pPr indent="0" marL="0">
              <a:buNone/>
            </a:pPr>
            <a:r>
              <a:rPr lang="en-US" sz="1800" b="1" dirty="0">
                <a:solidFill>
                  <a:srgbClr val="1E293B"/>
                </a:solidFill>
                <a:latin typeface="Trebuchet MS" pitchFamily="34" charset="0"/>
                <a:ea typeface="Trebuchet MS" pitchFamily="34" charset="-122"/>
                <a:cs typeface="Trebuchet MS" pitchFamily="34" charset="-120"/>
              </a:rPr>
              <a:t>Harsh Sonavane</a:t>
            </a:r>
            <a:endParaRPr lang="en-US" sz="1800" dirty="0"/>
          </a:p>
        </p:txBody>
      </p:sp>
      <p:sp>
        <p:nvSpPr>
          <p:cNvPr id="6" name="Text 4"/>
          <p:cNvSpPr/>
          <p:nvPr/>
        </p:nvSpPr>
        <p:spPr>
          <a:xfrm>
            <a:off x="914400" y="1691640"/>
            <a:ext cx="3291840" cy="274320"/>
          </a:xfrm>
          <a:prstGeom prst="rect">
            <a:avLst/>
          </a:prstGeom>
          <a:noFill/>
          <a:ln/>
        </p:spPr>
        <p:txBody>
          <a:bodyPr wrap="square" lIns="0" tIns="0" rIns="0" bIns="0" rtlCol="0" anchor="ctr"/>
          <a:lstStyle/>
          <a:p>
            <a:pPr indent="0" marL="0">
              <a:buNone/>
            </a:pPr>
            <a:r>
              <a:rPr lang="en-US" sz="1200" dirty="0">
                <a:solidFill>
                  <a:srgbClr val="F97316"/>
                </a:solidFill>
                <a:latin typeface="Calibri" pitchFamily="34" charset="0"/>
                <a:ea typeface="Calibri" pitchFamily="34" charset="-122"/>
                <a:cs typeface="Calibri" pitchFamily="34" charset="-120"/>
              </a:rPr>
              <a:t>Founder &amp; CEO</a:t>
            </a:r>
            <a:endParaRPr lang="en-US" sz="1200" dirty="0"/>
          </a:p>
        </p:txBody>
      </p:sp>
      <p:sp>
        <p:nvSpPr>
          <p:cNvPr id="7" name="Text 5"/>
          <p:cNvSpPr/>
          <p:nvPr/>
        </p:nvSpPr>
        <p:spPr>
          <a:xfrm>
            <a:off x="914400" y="2057400"/>
            <a:ext cx="3291840" cy="109728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75569"/>
                </a:solidFill>
                <a:latin typeface="Calibri" pitchFamily="34" charset="0"/>
                <a:ea typeface="Calibri" pitchFamily="34" charset="-122"/>
                <a:cs typeface="Calibri" pitchFamily="34" charset="-120"/>
              </a:rPr>
              <a:t>Deep understanding of target users (college students)</a:t>
            </a:r>
            <a:endParaRPr lang="en-US" sz="1100" dirty="0"/>
          </a:p>
          <a:p>
            <a:pPr marL="342900" indent="-342900">
              <a:spcAft>
                <a:spcPts val="500"/>
              </a:spcAft>
              <a:buSzPct val="100000"/>
              <a:buChar char="•"/>
            </a:pPr>
            <a:r>
              <a:rPr lang="en-US" sz="1100" dirty="0">
                <a:solidFill>
                  <a:srgbClr val="475569"/>
                </a:solidFill>
                <a:latin typeface="Calibri" pitchFamily="34" charset="0"/>
                <a:ea typeface="Calibri" pitchFamily="34" charset="-122"/>
                <a:cs typeface="Calibri" pitchFamily="34" charset="-120"/>
              </a:rPr>
              <a:t>On-campus access for rapid iteration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Product vision, strategy, govt partnerships</a:t>
            </a:r>
            <a:endParaRPr lang="en-US" sz="1100" dirty="0"/>
          </a:p>
        </p:txBody>
      </p:sp>
      <p:sp>
        <p:nvSpPr>
          <p:cNvPr id="8" name="Shape 6"/>
          <p:cNvSpPr/>
          <p:nvPr/>
        </p:nvSpPr>
        <p:spPr>
          <a:xfrm>
            <a:off x="4754880" y="1097280"/>
            <a:ext cx="3657600" cy="22860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9" name="Shape 7"/>
          <p:cNvSpPr/>
          <p:nvPr/>
        </p:nvSpPr>
        <p:spPr>
          <a:xfrm>
            <a:off x="4754880" y="1097280"/>
            <a:ext cx="3657600" cy="54864"/>
          </a:xfrm>
          <a:prstGeom prst="rect">
            <a:avLst/>
          </a:prstGeom>
          <a:solidFill>
            <a:srgbClr val="1E3A8A"/>
          </a:solidFill>
          <a:ln/>
        </p:spPr>
      </p:sp>
      <p:sp>
        <p:nvSpPr>
          <p:cNvPr id="10" name="Text 8"/>
          <p:cNvSpPr/>
          <p:nvPr/>
        </p:nvSpPr>
        <p:spPr>
          <a:xfrm>
            <a:off x="4937760" y="1325880"/>
            <a:ext cx="3291840" cy="365760"/>
          </a:xfrm>
          <a:prstGeom prst="rect">
            <a:avLst/>
          </a:prstGeom>
          <a:noFill/>
          <a:ln/>
        </p:spPr>
        <p:txBody>
          <a:bodyPr wrap="square" lIns="0" tIns="0" rIns="0" bIns="0" rtlCol="0" anchor="ctr"/>
          <a:lstStyle/>
          <a:p>
            <a:pPr indent="0" marL="0">
              <a:buNone/>
            </a:pPr>
            <a:r>
              <a:rPr lang="en-US" sz="1800" b="1" dirty="0">
                <a:solidFill>
                  <a:srgbClr val="1E293B"/>
                </a:solidFill>
                <a:latin typeface="Trebuchet MS" pitchFamily="34" charset="0"/>
                <a:ea typeface="Trebuchet MS" pitchFamily="34" charset="-122"/>
                <a:cs typeface="Trebuchet MS" pitchFamily="34" charset="-120"/>
              </a:rPr>
              <a:t>Technical Co-founder</a:t>
            </a:r>
            <a:endParaRPr lang="en-US" sz="1800" dirty="0"/>
          </a:p>
        </p:txBody>
      </p:sp>
      <p:sp>
        <p:nvSpPr>
          <p:cNvPr id="11" name="Text 9"/>
          <p:cNvSpPr/>
          <p:nvPr/>
        </p:nvSpPr>
        <p:spPr>
          <a:xfrm>
            <a:off x="4937760" y="1691640"/>
            <a:ext cx="3291840" cy="274320"/>
          </a:xfrm>
          <a:prstGeom prst="rect">
            <a:avLst/>
          </a:prstGeom>
          <a:noFill/>
          <a:ln/>
        </p:spPr>
        <p:txBody>
          <a:bodyPr wrap="square" lIns="0" tIns="0" rIns="0" bIns="0" rtlCol="0" anchor="ctr"/>
          <a:lstStyle/>
          <a:p>
            <a:pPr indent="0" marL="0">
              <a:buNone/>
            </a:pPr>
            <a:r>
              <a:rPr lang="en-US" sz="1200" dirty="0">
                <a:solidFill>
                  <a:srgbClr val="1E3A8A"/>
                </a:solidFill>
                <a:latin typeface="Calibri" pitchFamily="34" charset="0"/>
                <a:ea typeface="Calibri" pitchFamily="34" charset="-122"/>
                <a:cs typeface="Calibri" pitchFamily="34" charset="-120"/>
              </a:rPr>
              <a:t>CTO (Hiring)</a:t>
            </a:r>
            <a:endParaRPr lang="en-US" sz="1200" dirty="0"/>
          </a:p>
        </p:txBody>
      </p:sp>
      <p:sp>
        <p:nvSpPr>
          <p:cNvPr id="12" name="Text 10"/>
          <p:cNvSpPr/>
          <p:nvPr/>
        </p:nvSpPr>
        <p:spPr>
          <a:xfrm>
            <a:off x="4937760" y="2057400"/>
            <a:ext cx="3291840" cy="109728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75569"/>
                </a:solidFill>
                <a:latin typeface="Calibri" pitchFamily="34" charset="0"/>
                <a:ea typeface="Calibri" pitchFamily="34" charset="-122"/>
                <a:cs typeface="Calibri" pitchFamily="34" charset="-120"/>
              </a:rPr>
              <a:t>AI/ML architecture &amp; NLP expertise</a:t>
            </a:r>
            <a:endParaRPr lang="en-US" sz="1100" dirty="0"/>
          </a:p>
          <a:p>
            <a:pPr marL="342900" indent="-342900">
              <a:spcAft>
                <a:spcPts val="500"/>
              </a:spcAft>
              <a:buSzPct val="100000"/>
              <a:buChar char="•"/>
            </a:pPr>
            <a:r>
              <a:rPr lang="en-US" sz="1100" dirty="0">
                <a:solidFill>
                  <a:srgbClr val="475569"/>
                </a:solidFill>
                <a:latin typeface="Calibri" pitchFamily="34" charset="0"/>
                <a:ea typeface="Calibri" pitchFamily="34" charset="-122"/>
                <a:cs typeface="Calibri" pitchFamily="34" charset="-120"/>
              </a:rPr>
              <a:t>Platform development &amp; scalability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Full-stack engineering leadership</a:t>
            </a:r>
            <a:endParaRPr lang="en-US" sz="1100" dirty="0"/>
          </a:p>
        </p:txBody>
      </p:sp>
      <p:sp>
        <p:nvSpPr>
          <p:cNvPr id="13" name="Shape 11"/>
          <p:cNvSpPr/>
          <p:nvPr/>
        </p:nvSpPr>
        <p:spPr>
          <a:xfrm>
            <a:off x="731520" y="3657600"/>
            <a:ext cx="365760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Text 12"/>
          <p:cNvSpPr/>
          <p:nvPr/>
        </p:nvSpPr>
        <p:spPr>
          <a:xfrm>
            <a:off x="914400" y="3749040"/>
            <a:ext cx="3291840" cy="228600"/>
          </a:xfrm>
          <a:prstGeom prst="rect">
            <a:avLst/>
          </a:prstGeom>
          <a:noFill/>
          <a:ln/>
        </p:spPr>
        <p:txBody>
          <a:bodyPr wrap="square" lIns="0" tIns="0" rIns="0" bIns="0" rtlCol="0" anchor="ctr"/>
          <a:lstStyle/>
          <a:p>
            <a:pPr indent="0" marL="0">
              <a:buNone/>
            </a:pPr>
            <a:r>
              <a:rPr lang="en-US" sz="900" b="1" spc="200" kern="0" dirty="0">
                <a:solidFill>
                  <a:srgbClr val="F97316"/>
                </a:solidFill>
                <a:latin typeface="Calibri" pitchFamily="34" charset="0"/>
                <a:ea typeface="Calibri" pitchFamily="34" charset="-122"/>
                <a:cs typeface="Calibri" pitchFamily="34" charset="-120"/>
              </a:rPr>
              <a:t>ADVISORY (BUILDING)</a:t>
            </a:r>
            <a:endParaRPr lang="en-US" sz="900" dirty="0"/>
          </a:p>
        </p:txBody>
      </p:sp>
      <p:sp>
        <p:nvSpPr>
          <p:cNvPr id="15" name="Text 13"/>
          <p:cNvSpPr/>
          <p:nvPr/>
        </p:nvSpPr>
        <p:spPr>
          <a:xfrm>
            <a:off x="914400" y="4023360"/>
            <a:ext cx="3291840" cy="731520"/>
          </a:xfrm>
          <a:prstGeom prst="rect">
            <a:avLst/>
          </a:prstGeom>
          <a:noFill/>
          <a:ln/>
        </p:spPr>
        <p:txBody>
          <a:bodyPr wrap="square" lIns="0" tIns="0" rIns="0" bIns="0" rtlCol="0" anchor="ctr"/>
          <a:lstStyle/>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IIT Kanpur / COEP academic advisors (pending)</a:t>
            </a:r>
            <a:endParaRPr lang="en-US" sz="1000" dirty="0"/>
          </a:p>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Sarvam AI — technical collaboration</a:t>
            </a:r>
            <a:endParaRPr lang="en-US" sz="1000" dirty="0"/>
          </a:p>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Raghav Chadha MP — political guidance</a:t>
            </a:r>
            <a:endParaRPr lang="en-US" sz="1000" dirty="0"/>
          </a:p>
        </p:txBody>
      </p:sp>
      <p:sp>
        <p:nvSpPr>
          <p:cNvPr id="16" name="Shape 14"/>
          <p:cNvSpPr/>
          <p:nvPr/>
        </p:nvSpPr>
        <p:spPr>
          <a:xfrm>
            <a:off x="4754880" y="3657600"/>
            <a:ext cx="365760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7" name="Text 15"/>
          <p:cNvSpPr/>
          <p:nvPr/>
        </p:nvSpPr>
        <p:spPr>
          <a:xfrm>
            <a:off x="4937760" y="3749040"/>
            <a:ext cx="3291840" cy="228600"/>
          </a:xfrm>
          <a:prstGeom prst="rect">
            <a:avLst/>
          </a:prstGeom>
          <a:noFill/>
          <a:ln/>
        </p:spPr>
        <p:txBody>
          <a:bodyPr wrap="square" lIns="0" tIns="0" rIns="0" bIns="0" rtlCol="0" anchor="ctr"/>
          <a:lstStyle/>
          <a:p>
            <a:pPr indent="0" marL="0">
              <a:buNone/>
            </a:pPr>
            <a:r>
              <a:rPr lang="en-US" sz="900" b="1" spc="200" kern="0" dirty="0">
                <a:solidFill>
                  <a:srgbClr val="1E3A8A"/>
                </a:solidFill>
                <a:latin typeface="Calibri" pitchFamily="34" charset="0"/>
                <a:ea typeface="Calibri" pitchFamily="34" charset="-122"/>
                <a:cs typeface="Calibri" pitchFamily="34" charset="-120"/>
              </a:rPr>
              <a:t>HIRING PLAN (NEXT 12 MONTHS)</a:t>
            </a:r>
            <a:endParaRPr lang="en-US" sz="900" dirty="0"/>
          </a:p>
        </p:txBody>
      </p:sp>
      <p:sp>
        <p:nvSpPr>
          <p:cNvPr id="18" name="Text 16"/>
          <p:cNvSpPr/>
          <p:nvPr/>
        </p:nvSpPr>
        <p:spPr>
          <a:xfrm>
            <a:off x="4937760" y="4023360"/>
            <a:ext cx="3291840" cy="731520"/>
          </a:xfrm>
          <a:prstGeom prst="rect">
            <a:avLst/>
          </a:prstGeom>
          <a:noFill/>
          <a:ln/>
        </p:spPr>
        <p:txBody>
          <a:bodyPr wrap="square" lIns="0" tIns="0" rIns="0" bIns="0" rtlCol="0" anchor="ctr"/>
          <a:lstStyle/>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Full-stack engineer (React + Node.js)</a:t>
            </a:r>
            <a:endParaRPr lang="en-US" sz="1000" dirty="0"/>
          </a:p>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AI/ML engineer (NLP, synthesis pipeline)</a:t>
            </a:r>
            <a:endParaRPr lang="en-US" sz="1000" dirty="0"/>
          </a:p>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Product designer (mobile-first)</a:t>
            </a:r>
            <a:endParaRPr lang="en-US" sz="1000" dirty="0"/>
          </a:p>
          <a:p>
            <a:pPr indent="0" marL="0">
              <a:lnSpc>
                <a:spcPct val="130000"/>
              </a:lnSpc>
              <a:buNone/>
            </a:pPr>
            <a:r>
              <a:rPr lang="en-US" sz="1000" dirty="0">
                <a:solidFill>
                  <a:srgbClr val="475569"/>
                </a:solidFill>
                <a:latin typeface="Calibri" pitchFamily="34" charset="0"/>
                <a:ea typeface="Calibri" pitchFamily="34" charset="-122"/>
                <a:cs typeface="Calibri" pitchFamily="34" charset="-120"/>
              </a:rPr>
              <a:t>Community manager (campus ambassadors)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D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Text 1"/>
          <p:cNvSpPr/>
          <p:nvPr/>
        </p:nvSpPr>
        <p:spPr>
          <a:xfrm>
            <a:off x="731520" y="320040"/>
            <a:ext cx="7680960" cy="6400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Join Us in Building Democratic Infrastructure</a:t>
            </a:r>
            <a:endParaRPr lang="en-US" sz="2200" dirty="0"/>
          </a:p>
        </p:txBody>
      </p:sp>
      <p:sp>
        <p:nvSpPr>
          <p:cNvPr id="4" name="Shape 2"/>
          <p:cNvSpPr/>
          <p:nvPr/>
        </p:nvSpPr>
        <p:spPr>
          <a:xfrm>
            <a:off x="731520" y="1051560"/>
            <a:ext cx="3840480" cy="2560320"/>
          </a:xfrm>
          <a:prstGeom prst="rect">
            <a:avLst/>
          </a:prstGeom>
          <a:solidFill>
            <a:srgbClr val="1A2E5A"/>
          </a:solidFill>
          <a:ln/>
        </p:spPr>
      </p:sp>
      <p:sp>
        <p:nvSpPr>
          <p:cNvPr id="5" name="Text 3"/>
          <p:cNvSpPr/>
          <p:nvPr/>
        </p:nvSpPr>
        <p:spPr>
          <a:xfrm>
            <a:off x="914400" y="1143000"/>
            <a:ext cx="3474720" cy="274320"/>
          </a:xfrm>
          <a:prstGeom prst="rect">
            <a:avLst/>
          </a:prstGeom>
          <a:noFill/>
          <a:ln/>
        </p:spPr>
        <p:txBody>
          <a:bodyPr wrap="square" lIns="0" tIns="0" rIns="0" bIns="0" rtlCol="0" anchor="ctr"/>
          <a:lstStyle/>
          <a:p>
            <a:pPr indent="0" marL="0">
              <a:buNone/>
            </a:pPr>
            <a:r>
              <a:rPr lang="en-US" sz="1000" b="1" spc="200" kern="0" dirty="0">
                <a:solidFill>
                  <a:srgbClr val="F97316"/>
                </a:solidFill>
                <a:latin typeface="Calibri" pitchFamily="34" charset="0"/>
                <a:ea typeface="Calibri" pitchFamily="34" charset="-122"/>
                <a:cs typeface="Calibri" pitchFamily="34" charset="-120"/>
              </a:rPr>
              <a:t>THE ASK</a:t>
            </a:r>
            <a:endParaRPr lang="en-US" sz="1000" dirty="0"/>
          </a:p>
        </p:txBody>
      </p:sp>
      <p:sp>
        <p:nvSpPr>
          <p:cNvPr id="6" name="Text 4"/>
          <p:cNvSpPr/>
          <p:nvPr/>
        </p:nvSpPr>
        <p:spPr>
          <a:xfrm>
            <a:off x="914400" y="1417320"/>
            <a:ext cx="3474720" cy="4114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₹50L – ₹2Cr Pre-Seed</a:t>
            </a:r>
            <a:endParaRPr lang="en-US" sz="2200" dirty="0"/>
          </a:p>
        </p:txBody>
      </p:sp>
      <p:graphicFrame>
        <p:nvGraphicFramePr>
          <p:cNvPr id="7" name="Chart 0" descr=""/>
          <p:cNvGraphicFramePr/>
          <p:nvPr/>
        </p:nvGraphicFramePr>
        <p:xfrm>
          <a:off x="914400" y="1920240"/>
          <a:ext cx="3474720" cy="15544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846320" y="1051560"/>
            <a:ext cx="3840480" cy="2560320"/>
          </a:xfrm>
          <a:prstGeom prst="rect">
            <a:avLst/>
          </a:prstGeom>
          <a:solidFill>
            <a:srgbClr val="1A2E5A"/>
          </a:solidFill>
          <a:ln/>
        </p:spPr>
      </p:sp>
      <p:sp>
        <p:nvSpPr>
          <p:cNvPr id="9" name="Text 6"/>
          <p:cNvSpPr/>
          <p:nvPr/>
        </p:nvSpPr>
        <p:spPr>
          <a:xfrm>
            <a:off x="5029200" y="1143000"/>
            <a:ext cx="3474720" cy="274320"/>
          </a:xfrm>
          <a:prstGeom prst="rect">
            <a:avLst/>
          </a:prstGeom>
          <a:noFill/>
          <a:ln/>
        </p:spPr>
        <p:txBody>
          <a:bodyPr wrap="square" lIns="0" tIns="0" rIns="0" bIns="0" rtlCol="0" anchor="ctr"/>
          <a:lstStyle/>
          <a:p>
            <a:pPr indent="0" marL="0">
              <a:buNone/>
            </a:pPr>
            <a:r>
              <a:rPr lang="en-US" sz="1000" b="1" spc="200" kern="0" dirty="0">
                <a:solidFill>
                  <a:srgbClr val="F97316"/>
                </a:solidFill>
                <a:latin typeface="Calibri" pitchFamily="34" charset="0"/>
                <a:ea typeface="Calibri" pitchFamily="34" charset="-122"/>
                <a:cs typeface="Calibri" pitchFamily="34" charset="-120"/>
              </a:rPr>
              <a:t>18-MONTH MILESTONES</a:t>
            </a:r>
            <a:endParaRPr lang="en-US" sz="1000" dirty="0"/>
          </a:p>
        </p:txBody>
      </p:sp>
      <p:sp>
        <p:nvSpPr>
          <p:cNvPr id="10" name="Text 7"/>
          <p:cNvSpPr/>
          <p:nvPr/>
        </p:nvSpPr>
        <p:spPr>
          <a:xfrm>
            <a:off x="5029200" y="1508760"/>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5349240" y="1508760"/>
            <a:ext cx="31089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 3</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MVP launched, 100 users</a:t>
            </a:r>
            <a:endParaRPr lang="en-US" sz="1200" dirty="0"/>
          </a:p>
        </p:txBody>
      </p:sp>
      <p:sp>
        <p:nvSpPr>
          <p:cNvPr id="12" name="Text 9"/>
          <p:cNvSpPr/>
          <p:nvPr/>
        </p:nvSpPr>
        <p:spPr>
          <a:xfrm>
            <a:off x="5029200" y="2057400"/>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5349240" y="2057400"/>
            <a:ext cx="31089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 6</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1,000 students, first synthesis wins</a:t>
            </a:r>
            <a:endParaRPr lang="en-US" sz="1200" dirty="0"/>
          </a:p>
        </p:txBody>
      </p:sp>
      <p:sp>
        <p:nvSpPr>
          <p:cNvPr id="14" name="Text 11"/>
          <p:cNvSpPr/>
          <p:nvPr/>
        </p:nvSpPr>
        <p:spPr>
          <a:xfrm>
            <a:off x="5029200" y="2606040"/>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15" name="Text 12"/>
          <p:cNvSpPr/>
          <p:nvPr/>
        </p:nvSpPr>
        <p:spPr>
          <a:xfrm>
            <a:off x="5349240" y="2606040"/>
            <a:ext cx="31089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 12</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10 colleges, 50,000 users</a:t>
            </a:r>
            <a:endParaRPr lang="en-US" sz="1200" dirty="0"/>
          </a:p>
        </p:txBody>
      </p:sp>
      <p:sp>
        <p:nvSpPr>
          <p:cNvPr id="16" name="Text 13"/>
          <p:cNvSpPr/>
          <p:nvPr/>
        </p:nvSpPr>
        <p:spPr>
          <a:xfrm>
            <a:off x="5029200" y="3154680"/>
            <a:ext cx="274320" cy="27432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17" name="Text 14"/>
          <p:cNvSpPr/>
          <p:nvPr/>
        </p:nvSpPr>
        <p:spPr>
          <a:xfrm>
            <a:off x="5349240" y="3154680"/>
            <a:ext cx="31089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 18</a:t>
            </a:r>
            <a:endParaRPr lang="en-US" sz="1200" dirty="0"/>
          </a:p>
          <a:p>
            <a:pPr indent="0" marL="0">
              <a:buNone/>
            </a:pPr>
            <a:r>
              <a:rPr lang="en-US" sz="1100" dirty="0">
                <a:solidFill>
                  <a:srgbClr val="E2E8F0"/>
                </a:solidFill>
                <a:latin typeface="Calibri" pitchFamily="34" charset="0"/>
                <a:ea typeface="Calibri" pitchFamily="34" charset="-122"/>
                <a:cs typeface="Calibri" pitchFamily="34" charset="-120"/>
              </a:rPr>
              <a:t>100,000 users, seed round ready</a:t>
            </a:r>
            <a:endParaRPr lang="en-US" sz="1200" dirty="0"/>
          </a:p>
        </p:txBody>
      </p:sp>
      <p:sp>
        <p:nvSpPr>
          <p:cNvPr id="18" name="Shape 15"/>
          <p:cNvSpPr/>
          <p:nvPr/>
        </p:nvSpPr>
        <p:spPr>
          <a:xfrm>
            <a:off x="731520" y="3794760"/>
            <a:ext cx="7863840" cy="36576"/>
          </a:xfrm>
          <a:prstGeom prst="rect">
            <a:avLst/>
          </a:prstGeom>
          <a:solidFill>
            <a:srgbClr val="F97316"/>
          </a:solidFill>
          <a:ln/>
        </p:spPr>
      </p:sp>
      <p:sp>
        <p:nvSpPr>
          <p:cNvPr id="19" name="Text 16"/>
          <p:cNvSpPr/>
          <p:nvPr/>
        </p:nvSpPr>
        <p:spPr>
          <a:xfrm>
            <a:off x="731520" y="3977640"/>
            <a:ext cx="7680960" cy="640080"/>
          </a:xfrm>
          <a:prstGeom prst="rect">
            <a:avLst/>
          </a:prstGeom>
          <a:noFill/>
          <a:ln/>
        </p:spPr>
        <p:txBody>
          <a:bodyPr wrap="square" lIns="0" tIns="0" rIns="0" bIns="0" rtlCol="0" anchor="ctr"/>
          <a:lstStyle/>
          <a:p>
            <a:pPr algn="ctr" indent="0" marL="0">
              <a:lnSpc>
                <a:spcPct val="130000"/>
              </a:lnSpc>
              <a:buNone/>
            </a:pPr>
            <a:r>
              <a:rPr lang="en-US" sz="1600" i="1" dirty="0">
                <a:solidFill>
                  <a:srgbClr val="FFFFFF"/>
                </a:solidFill>
                <a:latin typeface="Calibri" pitchFamily="34" charset="0"/>
                <a:ea typeface="Calibri" pitchFamily="34" charset="-122"/>
                <a:cs typeface="Calibri" pitchFamily="34" charset="-120"/>
              </a:rPr>
              <a:t>"We're not building an app. We're building infrastructure</a:t>
            </a:r>
            <a:endParaRPr lang="en-US" sz="1600" dirty="0"/>
          </a:p>
          <a:p>
            <a:pPr algn="ctr" indent="0" marL="0">
              <a:lnSpc>
                <a:spcPct val="130000"/>
              </a:lnSpc>
              <a:buNone/>
            </a:pPr>
            <a:r>
              <a:rPr lang="en-US" sz="1600" i="1" dirty="0">
                <a:solidFill>
                  <a:srgbClr val="FFFFFF"/>
                </a:solidFill>
                <a:latin typeface="Calibri" pitchFamily="34" charset="0"/>
                <a:ea typeface="Calibri" pitchFamily="34" charset="-122"/>
                <a:cs typeface="Calibri" pitchFamily="34" charset="-120"/>
              </a:rPr>
              <a:t>for how democracy should work in the digital age."</a:t>
            </a:r>
            <a:endParaRPr lang="en-US" sz="1600" dirty="0"/>
          </a:p>
        </p:txBody>
      </p:sp>
      <p:sp>
        <p:nvSpPr>
          <p:cNvPr id="20" name="Text 17"/>
          <p:cNvSpPr/>
          <p:nvPr/>
        </p:nvSpPr>
        <p:spPr>
          <a:xfrm>
            <a:off x="731520" y="4663440"/>
            <a:ext cx="7680960" cy="320040"/>
          </a:xfrm>
          <a:prstGeom prst="rect">
            <a:avLst/>
          </a:prstGeom>
          <a:noFill/>
          <a:ln/>
        </p:spPr>
        <p:txBody>
          <a:bodyPr wrap="square" lIns="0" tIns="0" rIns="0" bIns="0" rtlCol="0" anchor="ctr"/>
          <a:lstStyle/>
          <a:p>
            <a:pPr algn="ctr" indent="0" marL="0">
              <a:buNone/>
            </a:pPr>
            <a:r>
              <a:rPr lang="en-US" sz="1400" b="1" dirty="0">
                <a:solidFill>
                  <a:srgbClr val="F97316"/>
                </a:solidFill>
                <a:latin typeface="Calibri" pitchFamily="34" charset="0"/>
                <a:ea typeface="Calibri" pitchFamily="34" charset="-122"/>
                <a:cs typeface="Calibri" pitchFamily="34" charset="-120"/>
              </a:rPr>
              <a:t>Let's make democracy work. Together.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SUSHAASAN – AI-Powered Collective Intelligence for Indian Democracy</dc:title>
  <dc:subject>PptxGenJS Presentation</dc:subject>
  <dc:creator>Harsh Sonavane</dc:creator>
  <cp:lastModifiedBy>Harsh Sonavane</cp:lastModifiedBy>
  <cp:revision>1</cp:revision>
  <dcterms:created xsi:type="dcterms:W3CDTF">2026-04-05T09:50:19Z</dcterms:created>
  <dcterms:modified xsi:type="dcterms:W3CDTF">2026-04-05T09:50:19Z</dcterms:modified>
</cp:coreProperties>
</file>