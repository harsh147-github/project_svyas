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OxWFIY816e+dAF9I6VoK9kj3x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457210" y="2282340"/>
            <a:ext cx="82296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 b="1">
                <a:solidFill>
                  <a:schemeClr val="dk2"/>
                </a:solidFill>
              </a:rPr>
              <a:t xml:space="preserve">Sushaasan</a:t>
            </a:r>
            <a:br>
              <a:rPr lang="en-US" b="1">
                <a:solidFill>
                  <a:schemeClr val="dk2"/>
                </a:solidFill>
              </a:rPr>
            </a:br>
            <a:r>
              <a:rPr lang="en-US" sz="2800" b="1">
                <a:solidFill>
                  <a:schemeClr val="dk2"/>
                </a:solidFill>
              </a:rPr>
              <a:t xml:space="preserve">Government OS for India  |  Harsh Sonavane, Founder  |  sushaasan.in  |  Pune, May 2026</a:t>
            </a:r>
            <a:br>
              <a:rPr lang="en-US" sz="2800" b="1">
                <a:solidFill>
                  <a:schemeClr val="dk2"/>
                </a:solidFill>
              </a:rPr>
            </a:br>
            <a:endParaRPr sz="2800" b="1">
              <a:solidFill>
                <a:schemeClr val="dk2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87400" y="419600"/>
            <a:ext cx="209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Live MVP at 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sushaasan.in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 title="official SIIC logo_2022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008273" cy="17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body" idx="4294967295"/>
          </p:nvPr>
        </p:nvSpPr>
        <p:spPr>
          <a:xfrm>
            <a:off x="611550" y="583250"/>
            <a:ext cx="8229600" cy="57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b="1">
                <a:solidFill>
                  <a:schemeClr val="dk2"/>
                </a:solidFill>
              </a:rPr>
              <a:t>Innovation &amp; Technological Differentiation</a:t>
            </a:r>
            <a:endParaRPr b="1">
              <a:solidFill>
                <a:schemeClr val="dk2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>
                <a:solidFill>
                  <a:schemeClr val="dk2"/>
                </a:solidFill>
              </a:rPr>
              <a:t>Key Points: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First-of-kind multilingual civic intelligence pipeline — passive ingestion across 7 public sources, AI synthesis in 22 Indian languages, sovereign Indian AI stack (Sarvam, Bhashini, Voyage-3)</a:t>
            </a:r>
            <a:endParaRPr sz="2200" b="1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3-stage Claude pipeline (classify → cluster → synthesize) with hallucination-trace guardrail: every AI claim resolves to a real public post or it is rejected</a:t>
            </a:r>
            <a:endParaRPr sz="2200" b="1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TRL 7 — live MVP on real PMC GeoJSON at sushaasan.in/dashboard. NIBM digital twin at /dashboard/nibm runs 19 real signals through full pipeline → 5 root-cause clusters → 4 ranked interventions → 7-tier procedure-aware routing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b="1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4582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dk2"/>
                </a:solidFill>
              </a:rPr>
              <a:t xml:space="preserve">The Sushaasan</a:t>
            </a:r>
            <a:r>
              <a:rPr lang="en-US" sz="4000"/>
              <a:t xml:space="preserve"> </a:t>
            </a:r>
            <a:r>
              <a:rPr lang="en-US" sz="4000" b="1">
                <a:solidFill>
                  <a:schemeClr val="dk2"/>
                </a:solidFill>
              </a:rPr>
              <a:t xml:space="preserve">Loop </a:t>
            </a:r>
            <a:br>
              <a:rPr lang="en-US" sz="3600" b="1">
                <a:solidFill>
                  <a:schemeClr val="dk2"/>
                </a:solidFill>
              </a:rPr>
            </a:br>
            <a:r>
              <a:rPr lang="en-US" sz="2800" b="1">
                <a:solidFill>
                  <a:schemeClr val="dk2"/>
                </a:solidFill>
              </a:rPr>
              <a:t xml:space="preserve">— how the Government OS works</a:t>
            </a:r>
            <a:br>
              <a:rPr lang="en-US" sz="3200" b="1">
                <a:solidFill>
                  <a:schemeClr val="dk2"/>
                </a:solidFill>
              </a:rPr>
            </a:br>
            <a:endParaRPr sz="3200" b="1">
              <a:solidFill>
                <a:schemeClr val="dk2"/>
              </a:solidFill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267625" y="2321600"/>
            <a:ext cx="65376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LISTEN — public scrapers ingest 7 sources (X, Reddit, IG, FB, Telegram, Maps, news). Privacy-first, hashed authors, no PII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SYNTHESIZE — Claude classifies + clusters per ward; writes step-by-step solutions with PMC-aligned cost &amp; timeline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ACT — Corporator marks resolved on dashboard; citizens see same status. One team, no blame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STACK — Next.js + Mapbox + Supabase pgvector + Claude. Infra cap ₹25k/mo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 xml:space="preserve">PILOT — PMC Wards 43 + 46. Live demo: sushaasan.in/dashboard/nibm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body" idx="4294967295"/>
          </p:nvPr>
        </p:nvSpPr>
        <p:spPr>
          <a:xfrm>
            <a:off x="611550" y="508400"/>
            <a:ext cx="8229600" cy="4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b="1">
                <a:solidFill>
                  <a:schemeClr val="dk2"/>
                </a:solidFill>
              </a:rPr>
              <a:t>Market Potential &amp; Problem-Solution Fit</a:t>
            </a:r>
            <a:endParaRPr b="1">
              <a:solidFill>
                <a:schemeClr val="dk2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>
                <a:solidFill>
                  <a:schemeClr val="dk2"/>
                </a:solidFill>
              </a:rPr>
              <a:t>Key Points: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PROBLEM — 500M+ Indians vent civic grievances on social media monthly. CPGRAMS reaches 0.19% of India. The gap = no infrastructure to capture the 99.81%. Result: ₹1 lakh crore / year of urban budgets spent without structured citizen input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MARKET — 4,800+ Urban Local Bodies + 270k Gram Panchayats. Tier-1 cities: ₹10–25L / city / year. Tier-2: ₹3–8L. TAM ₹2,500 cr. SAM 250 cities = ₹350 cr. Beachhead: 30 cities by Y4 = ₹15 cr ARR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DIFFERENTIATION — vs CPGRAMS / IGMS 2.0 (official-side analytics): Sushaasan is the citizen-side participatory layer they lack. vs Reap Benefit / SocialCops: we are AI-native, multilingual, ward-granular. vs Kondo City: we go beyond hotspots into solution-generation + loop-closure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body" idx="4294967295"/>
          </p:nvPr>
        </p:nvSpPr>
        <p:spPr>
          <a:xfrm>
            <a:off x="611550" y="508400"/>
            <a:ext cx="8229600" cy="4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b="1">
                <a:solidFill>
                  <a:schemeClr val="dk2"/>
                </a:solidFill>
              </a:rPr>
              <a:t>Business Model &amp; Revenue Strategy</a:t>
            </a:r>
            <a:endParaRPr b="1">
              <a:solidFill>
                <a:schemeClr val="dk2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>
                <a:solidFill>
                  <a:schemeClr val="dk2"/>
                </a:solidFill>
              </a:rPr>
              <a:t>Key Points: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B2G SaaS — Municipal corporations + state urban depts pay annual licence: Tier-1 city ₹10–25L, Tier-2 ₹3–8L. Citizen dashboard always free (trust = the moat). Y2+ adjacent revenue: API access (₹1–3L/seat), state Smart City SPV briefs, AIKosh dataset licensing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UNIT ECONOMICS — At pilot scale: city ARPU ₹15L, infra cost ₹3L/year/city, contribution margin 80%. Cost per citizen reached: ₹0.43–0.78/month vs ₹50–200 per CPGRAMS grievance — 100–500× more cost-effective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GROWTH — Y1: 3 paid pilots (₹50L). Y2: 8 cities (₹2 cr ARR). Y3: 18 cities (₹6 cr). Y4: 30 cities (₹15 cr). Y5: 100 cities (₹50 cr). Path-to-profitability at 30 cities. Government contract-led, not advertising-led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body" idx="4294967295"/>
          </p:nvPr>
        </p:nvSpPr>
        <p:spPr>
          <a:xfrm>
            <a:off x="611550" y="508400"/>
            <a:ext cx="8229600" cy="4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b="1">
                <a:solidFill>
                  <a:schemeClr val="dk2"/>
                </a:solidFill>
              </a:rPr>
              <a:t>Team Strength &amp; Capability</a:t>
            </a:r>
            <a:endParaRPr b="1">
              <a:solidFill>
                <a:schemeClr val="dk2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>
                <a:solidFill>
                  <a:schemeClr val="dk2"/>
                </a:solidFill>
              </a:rPr>
              <a:t>Key Points: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FOUNDER — Harsh Sonavane (Pune). First-time founder, full-time on Sushaasan. Direct corporator + nagar sevak relationships in NIBM/Wanowrie pilot ward — wired loop-closure from Day 0. Civic conviction: started this after watching Pune spend ₹500 cr in 75 days for one Bajaj event while basic potholes went unfixed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EXECUTION — Shipped public MVP end-to-end in &lt;8 weeks: Next.js, Mapbox, real PMC GeoJSON, full AI scaffolding. Live at sushaasan.in/dashboard. Ran founder outreach across 30+ investors and 5 incubators in parallel. Active hiring underway: CTO + NLP engineer (₹50–75 lakh pre-seed earmarked)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PARTNERSHIPS — eGov Foundation (Nandan Nilekani's DPI vehicle), MIT-WPU TBI, Venture Center Pune, IndiaAI Mission, AJVC (Pune-based, civic-tech precedent). Strategic advisor pipeline includes IGMS 2.0 / DARPG alumni and IIT NLP faculty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body" idx="4294967295"/>
          </p:nvPr>
        </p:nvSpPr>
        <p:spPr>
          <a:xfrm>
            <a:off x="611550" y="508400"/>
            <a:ext cx="8229600" cy="4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b="1">
                <a:solidFill>
                  <a:schemeClr val="dk2"/>
                </a:solidFill>
              </a:rPr>
              <a:t>Social/Strategic Impact (especially for SIIC)</a:t>
            </a:r>
            <a:endParaRPr b="1">
              <a:solidFill>
                <a:schemeClr val="dk2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>
                <a:solidFill>
                  <a:schemeClr val="dk2"/>
                </a:solidFill>
              </a:rPr>
              <a:t>Key Points: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CIVIC IMPACT — 500M+ Indians get a structured voice in governance. Multilingual (22 scheduled languages) means Tier-2/3 cities and rural voices stop being excluded by language barriers. Each city pilot = 100k+ citizens with ward-level transparency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NATIONAL PRIORITY ALIGNMENT — (1) AI for Viksit Bharat 2047. (2) AIKosh / IndiaAI civic dataset contributor. (3) Smart Cities → City Economic Regions transition. (4) Bhashini multilingual mission. (5) Sovereign Indian AI stack — no American cloud dependency for civic data. (6) DPI philosophy — interoperable, open, public good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>
                <a:solidFill>
                  <a:schemeClr val="dk2"/>
                </a:solidFill>
              </a:rPr>
              <a:t xml:space="preserve">UNDERSERVED FIRST — Pilot ward chosen for trilingual signal density (English / Marathi / Hindi). Pipeline is geography-agnostic — same code scales to any of India's 4,800+ ULBs and 270k Gram Panchayats. Civic discourse dataset will be open-sourced to AIKosh as a Digital Public Good</a:t>
            </a: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body" idx="4294967295"/>
          </p:nvPr>
        </p:nvSpPr>
        <p:spPr>
          <a:xfrm>
            <a:off x="611550" y="508400"/>
            <a:ext cx="8229600" cy="48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b="1" dirty="0">
                <a:solidFill>
                  <a:schemeClr val="dk2"/>
                </a:solidFill>
              </a:rPr>
              <a:t>Support Needed from SIIC</a:t>
            </a:r>
            <a:endParaRPr b="1" dirty="0">
              <a:solidFill>
                <a:schemeClr val="dk2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 dirty="0">
                <a:solidFill>
                  <a:schemeClr val="dk2"/>
                </a:solidFill>
              </a:rPr>
              <a:t>Key Points:</a:t>
            </a:r>
            <a:endParaRPr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      </a:t>
            </a:r>
            <a:endParaRPr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FROM SIIC — (1) Faculty mentorship in NLP, urban governance, DPI — Kotak School of Sustainability + IGMS 2.0 team. (2) Government legitimacy via SIIC's MoUs with DARPG / MoHUA / IndiaAI. (3) IITK GPU cluster compute alongside our IndiaAI Compute Portal application. (4) SISFS pathway (₹20–50L). (5) Cohort exposure to AI-for-Bharat founders. (6) Co-working at SIIC for Q1 cohort. (7) AIKosh contributor program intro</a:t>
            </a:r>
            <a:endParaRPr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     </a:t>
            </a:r>
            <a:endParaRPr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lang="en-IN" sz="2200" b="1" dirty="0">
              <a:solidFill>
                <a:schemeClr val="dk2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 sz="2400" b="1" dirty="0">
                <a:solidFill>
                  <a:schemeClr val="dk2"/>
                </a:solidFill>
              </a:rPr>
              <a:t>Details on Investment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US" sz="2200" b="1" dirty="0">
                <a:solidFill>
                  <a:schemeClr val="dk2"/>
                </a:solidFill>
              </a:rPr>
              <a:t>Key Points: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ASK — ₹50–75 lakh</a:t>
            </a:r>
            <a:r>
              <a:rPr lang="en-US" sz="2200" b="1" dirty="0" err="1">
                <a:solidFill>
                  <a:schemeClr val="dk2"/>
                </a:solidFill>
              </a:rPr>
              <a:t xml:space="preserve"> pre-seed (cash + SISFS bridge)</a:t>
            </a:r>
            <a:endParaRPr lang="en-US"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USE OF FUNDS — (1) CTO + NLP engineer hires: ₹35L. (2) 3 city pilots (PMC, then 2 more): ₹10L. (3) AIKosh + IndiaAI compute: ₹4L. (4) Infrastructure 18 mo @ ₹25k cap: ₹4.5L. (5) Legal + DPIIT + trademark: ₹2L. (6) Founder runway </a:t>
            </a:r>
            <a:r>
              <a:rPr lang="en-US" sz="2200" b="1" dirty="0" err="1">
                <a:solidFill>
                  <a:schemeClr val="dk2"/>
                </a:solidFill>
              </a:rPr>
              <a:t xml:space="preserve">+ buffer</a:t>
            </a:r>
            <a:r>
              <a:rPr lang="en-US" sz="2200" b="1">
                <a:solidFill>
                  <a:schemeClr val="dk2"/>
                </a:solidFill>
              </a:rPr>
              <a:t xml:space="preserve"> — ₹4L</a:t>
            </a:r>
            <a:endParaRPr lang="en-US"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MILESTONES (18 mo) — 3 paid municipal corporation pilots signed | NIBM full loop-closure proven (corporator marks resolved → citizens see it) | Civic-discourse dataset v1 contributed to AIKosh | ₹50L ARR run-rate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VALUATION — ₹3–4 cr post-money pre-seed (10–20% dilution at ₹50–75L raise). Civic-tech comparable: Jaagruk Bharat, ₹1.5 cr at AJVC, October 2025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lang="en-US" sz="22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r>
              <a:rPr lang="en-US" sz="2200" b="1" dirty="0">
                <a:solidFill>
                  <a:schemeClr val="dk2"/>
                </a:solidFill>
              </a:rPr>
              <a:t xml:space="preserve">     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200"/>
              <a:buNone/>
            </a:pPr>
            <a:endParaRPr sz="22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On-screen Show (4:3)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Noto Sans Symbols</vt:lpstr>
      <vt:lpstr>Office Theme</vt:lpstr>
      <vt:lpstr>Project Title Submitted by </vt:lpstr>
      <vt:lpstr>PowerPoint Presentation</vt:lpstr>
      <vt:lpstr>The proposed solution  Technical Details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Ashish Sharma</cp:lastModifiedBy>
  <cp:revision>2</cp:revision>
  <dcterms:modified xsi:type="dcterms:W3CDTF">2025-05-28T04:55:41Z</dcterms:modified>
</cp:coreProperties>
</file>